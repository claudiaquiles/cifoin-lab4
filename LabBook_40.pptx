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89" r:id="rId3"/>
    <p:sldId id="290" r:id="rId4"/>
    <p:sldId id="291" r:id="rId5"/>
    <p:sldId id="296" r:id="rId6"/>
    <p:sldId id="299" r:id="rId7"/>
    <p:sldId id="297" r:id="rId8"/>
    <p:sldId id="298" r:id="rId9"/>
    <p:sldId id="300" r:id="rId10"/>
    <p:sldId id="292" r:id="rId11"/>
    <p:sldId id="293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2" r:id="rId22"/>
    <p:sldId id="313" r:id="rId23"/>
    <p:sldId id="314" r:id="rId24"/>
    <p:sldId id="315" r:id="rId25"/>
    <p:sldId id="316" r:id="rId26"/>
    <p:sldId id="295" r:id="rId27"/>
    <p:sldId id="318" r:id="rId28"/>
    <p:sldId id="317" r:id="rId29"/>
    <p:sldId id="310" r:id="rId30"/>
    <p:sldId id="319" r:id="rId31"/>
    <p:sldId id="320" r:id="rId32"/>
    <p:sldId id="288" r:id="rId33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9526FB-B59B-2C45-95C2-83D3AB4CED09}" v="79" dt="2026-06-12T00:15:48.5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35"/>
    <p:restoredTop sz="94662"/>
  </p:normalViewPr>
  <p:slideViewPr>
    <p:cSldViewPr snapToGrid="0">
      <p:cViewPr varScale="1">
        <p:scale>
          <a:sx n="97" d="100"/>
          <a:sy n="97" d="100"/>
        </p:scale>
        <p:origin x="216" y="33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12/6/26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12/6/26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87AEC-015A-4808-9AC9-382D824E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C03EDA-741F-B6F5-3444-A8D74D690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839219-55CF-753A-3C53-04F6B1E28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4B99BF-32CC-B000-CB3E-0CD66FF7C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7642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192DB-949B-3F10-6784-AB36B7037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5704D3-2FB5-18E2-2A18-5E7190208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0BA334-9954-BEF9-D8A9-BB7759F85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A6B0EB-CAD5-794C-049A-1952AD926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1804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FC8FA-6BFA-DBF0-35BF-A7A4BFFF6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0768ED3-63D5-6D7F-BC6A-61FB43F53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212CB1-27B8-2ACF-2091-2D1D87DBD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99C454-DE78-FBB5-33C0-BD4699D92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916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4CC78-85A6-0B9B-69A8-4225E483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B65F8A7-4660-DD23-5CB1-6EDE8EC4B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9022A95-AE70-0ED1-8A23-2EC7BE1DD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9EC492-082B-33AC-C4E9-D9B5B0DE2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6931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C7856-DB98-96DB-07A1-CEDBD426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F7D461-6FDC-044D-1967-118198E96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F27AF6-C287-E727-6D36-3E00B62C2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12E3EE-85FC-F127-D918-B65B7B670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6703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0E8D9-DBB1-2029-C6A5-4FF9C70A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CB0AF5-61CE-E75D-61BF-25F14A886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FE498DF-CD88-BA83-241A-71FDDF34B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41A0A1-2E79-2A39-BD8F-32551AA64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4219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2BF37-98F6-CD9B-2255-0A64B5CEA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68927E-2442-0553-FBC8-D3C32BCC5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130D77-4D33-EE41-3A9E-4EB6D2419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BAC07D-EBC4-F68A-7BE7-2B2DCCECD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5431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988B3-C141-4645-2F2A-A09F4082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B22BAD8-B0CC-3164-3027-A210D7EB7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995D4B-1202-927A-28C9-66F35C33A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56FFEE-1184-FFA2-1E7F-CC9E8439A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095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430C-E00C-E219-4A04-EE1278EF4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BDCCF1E-7052-4A6E-B214-D89E32136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4713A00-4CDA-3E6A-4A57-4F05E0B6B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24A0CB-CB2C-9E44-29E4-73D2EEDE0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6287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B5FED-9DD0-5456-5D48-E40731508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5A273E9-C9E1-7E1A-35AE-0A121EB99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420014-3B74-2D48-87F8-A4FE0E5C2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833883-37CD-375D-C90C-8A2C21415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994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8A69D-F21D-8A22-6B55-90B52ECA0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3F83AB-6EB8-4AA9-69EB-01F979AF5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336A779-82CD-1472-8C02-D2F85F11D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C07074-745B-7CAD-A245-BF31A1D05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40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93BC4-6D4B-A59D-1590-F4F3A303E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AFA3154-4729-6C32-6FE8-8D8AB9EC5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4C0CB53-6F2E-F777-63B1-BD316F01C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CDC88D-0000-31F3-ABB2-662B14EDB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2663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538FA-D3D0-960D-FDA5-25D9754B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2EA8B2-C42D-71F5-C4DF-C0EB7C948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FF8147-EBD4-57BA-9ED4-17B6659E5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629D8B-D145-1BEB-9610-E984DE9C5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4792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3C35A-F5B5-B2A0-F49E-BDC34A669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520725E-481B-8B65-AB85-234F85D61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182469C-5666-AEAB-A2FA-C4E327355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114DFA-2178-9D32-1E53-173C96F8E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04377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D2886-2E82-2640-ABC8-DDF5FE2CA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82D417C-A9C7-7800-55DA-91F5D46AB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2D35C2C-01BF-C0F0-1721-31BECB18C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FA1F01-83EC-6C7F-B1C4-2585EC629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5754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2E674-83B5-0033-F45E-470F8DFC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A255B76-1BDC-3E5E-4089-ADB506FE3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4E45221-6BED-8876-B088-9C37487D7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9A28B1-7FDD-104A-3751-1159B3E3A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09670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88469-35DC-9634-DEA8-E463CEF60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15124D4-96FC-46F0-12A6-305B6D081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8772016-ADA4-DFCC-CFD8-CC67ECBD8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AF3CA9-EBCC-34DE-1AC5-75684E207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7146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FFFEB-AD03-F382-7CE7-B324369EC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1CD53B-6EAC-3E56-8B55-99D1C08B8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330454C-961E-E299-D721-9561957E2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D998FF-79D0-8C34-8419-D64F385AB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55543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87B4A-4B80-8AFC-C2A2-792239FF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ACAA6AD-8455-6F95-55ED-C53580CC2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5008EF-F9B4-6785-B451-7821F54A8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F35B51-0F1A-EC0B-F71A-932E67F26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99022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A31E7-77D6-3F93-C9FD-D41710FEC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F649F3-6FDF-A6BB-DF6D-18715C8D7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7391216-C555-A3E4-DA08-3F7E5F44E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082DC-47EE-E31A-8C8C-0FB8C5B20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47655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07CBD-8D0F-2954-F4DD-B7AA43E31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EAECE8-415A-07CD-9D44-2A9AAAD0C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53B064-331D-B48D-6D6B-987BCE5D2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E005B4-6792-44F5-6D02-08D7393FD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06969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A4DB6-4E6D-47AF-E707-F783194FE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37346E2-2F06-DBA9-163C-F2EC3DDE2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D6DCDD-B171-3DFB-8511-2D25A4E36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3CE941-1DB2-EAC8-DE29-556F7BDED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28722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169CA-A6E9-D0C3-4D3A-6AF908910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EC97DB9-2632-3700-0312-BB76DC46D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897758-8CC0-1479-13D7-87B5FBD74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60DEFB-1A44-3354-5B15-298FF8A10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64594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B6994-308C-A19F-97A2-A7EDC2496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11A0F28-8415-2C14-D008-7E13BE158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2076D30-A124-184E-8295-000F73242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38096D-210A-3D44-1E48-DE81FC52D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69667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B355E-96E5-E4BC-281D-57AC820B9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DF0D8E6-F774-E34C-68F9-6168C2418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9214FCA-B36F-636A-FACB-309234F45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2484D7-FC02-BF4A-13AC-6236D629C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96008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45687-FFEC-A9E9-5B65-D61E28B89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5CEC72A-B169-26D7-1637-4126AA3E5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AF50B9-82AB-B5D5-4DB5-BA379A2E4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BFCE49-570C-4F39-DC51-566A50082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90314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73700-C369-A407-E751-557B5D298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49F3D23-7BB3-5C87-24E3-3280E1B94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D89F36B-DA45-082E-4DDE-2FE5DD953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C877B2-8E9B-C465-0579-A4220679E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046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69532-C59E-360D-4D3C-5BA202EB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E2B812-2031-291E-FD7B-D2FA32CE7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7EE92F7-E7DA-75C4-EF33-B3C27A414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C3DC18-9CBC-3B17-0997-B44C27D3E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4409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7"/>
          <p:cNvSpPr/>
          <p:nvPr userDrawn="1"/>
        </p:nvSpPr>
        <p:spPr>
          <a:xfrm>
            <a:off x="608171" y="381001"/>
            <a:ext cx="45731" cy="6834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ítulo 8"/>
          <p:cNvSpPr>
            <a:spLocks noGrp="1"/>
          </p:cNvSpPr>
          <p:nvPr>
            <p:ph type="title" hasCustomPrompt="1"/>
          </p:nvPr>
        </p:nvSpPr>
        <p:spPr>
          <a:xfrm>
            <a:off x="736652" y="381000"/>
            <a:ext cx="7778317" cy="313782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Open Sans Extrabold" panose="020B09060308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10" hasCustomPrompt="1"/>
          </p:nvPr>
        </p:nvSpPr>
        <p:spPr>
          <a:xfrm>
            <a:off x="608171" y="1295401"/>
            <a:ext cx="11051877" cy="4958137"/>
          </a:xfrm>
        </p:spPr>
        <p:txBody>
          <a:bodyPr>
            <a:normAutofit/>
          </a:bodyPr>
          <a:lstStyle>
            <a:lvl1pPr>
              <a:defRPr sz="2400" baseline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s-ES"/>
              <a:t>Texto del contenido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3" name="Marcador de texto 22"/>
          <p:cNvSpPr>
            <a:spLocks noGrp="1"/>
          </p:cNvSpPr>
          <p:nvPr>
            <p:ph type="body" sz="quarter" idx="11" hasCustomPrompt="1"/>
          </p:nvPr>
        </p:nvSpPr>
        <p:spPr>
          <a:xfrm>
            <a:off x="736652" y="730647"/>
            <a:ext cx="7778317" cy="381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/>
              <a:t>Subtítulo del artículo con una explicación corta a modo resumen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87407"/>
            <a:ext cx="1980287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4768" y="6387407"/>
            <a:ext cx="6402465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LAB 4.0. LAYOUT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1389" y="6388096"/>
            <a:ext cx="760611" cy="303019"/>
          </a:xfrm>
          <a:prstGeom prst="rect">
            <a:avLst/>
          </a:prstGeom>
          <a:solidFill>
            <a:schemeClr val="bg2"/>
          </a:solidFill>
        </p:spPr>
        <p:txBody>
          <a:bodyPr vert="horz" lIns="117208" tIns="58604" rIns="117208" bIns="58604" rtlCol="0" anchor="ctr"/>
          <a:lstStyle>
            <a:lvl1pPr algn="r">
              <a:defRPr sz="1200">
                <a:solidFill>
                  <a:srgbClr val="FF6309"/>
                </a:solidFill>
              </a:defRPr>
            </a:lvl1pPr>
          </a:lstStyle>
          <a:p>
            <a:fld id="{C2F52289-4012-4053-9770-FE82CEB9514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40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scualmunoz/cifoin-lab4.git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92137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>
                <a:latin typeface="Lucida Sans"/>
                <a:cs typeface="Lucida Sans"/>
              </a:rPr>
              <a:t>Lab Book 3.0 Circuits and Compact </a:t>
            </a:r>
            <a:r>
              <a:rPr lang="es-ES" sz="3200" b="1" err="1">
                <a:latin typeface="Lucida Sans"/>
                <a:cs typeface="Lucida Sans"/>
              </a:rPr>
              <a:t>Models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>
                <a:latin typeface="Arial"/>
                <a:cs typeface="Arial"/>
              </a:rPr>
              <a:t>Student: Claudia Quiles y Joan Enric </a:t>
            </a:r>
            <a:r>
              <a:rPr lang="es-ES" spc="165" dirty="0" err="1">
                <a:latin typeface="Arial"/>
                <a:cs typeface="Arial"/>
              </a:rPr>
              <a:t>Carcel</a:t>
            </a:r>
            <a:r>
              <a:rPr lang="es-ES" spc="165" dirty="0">
                <a:latin typeface="Arial"/>
                <a:cs typeface="Arial"/>
              </a:rPr>
              <a:t>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err="1">
                <a:latin typeface="+mj-lt"/>
                <a:cs typeface="Lucida Sans"/>
              </a:rPr>
              <a:t>Instructions</a:t>
            </a:r>
            <a:br>
              <a:rPr lang="es-ES" sz="2400" spc="-5">
                <a:latin typeface="+mj-lt"/>
                <a:cs typeface="Lucida Sans"/>
              </a:rPr>
            </a:br>
            <a:r>
              <a:rPr lang="es-ES" b="0" spc="-5">
                <a:latin typeface="+mj-lt"/>
                <a:cs typeface="Lucida Sans"/>
              </a:rPr>
              <a:t>General</a:t>
            </a:r>
            <a:endParaRPr sz="2400" b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>
                <a:solidFill>
                  <a:sysClr val="windowText" lastClr="000000"/>
                </a:solidFill>
                <a:sym typeface="Wingdings" pitchFamily="2" charset="2"/>
                <a:hlinkClick r:id="rId3"/>
              </a:rPr>
              <a:t>https://github.com/pascualmunoz/cifoin-lab4.git</a:t>
            </a:r>
            <a:endParaRPr lang="en-US" kern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>
                <a:solidFill>
                  <a:sysClr val="windowText" lastClr="000000"/>
                </a:solidFill>
                <a:sym typeface="Wingdings" pitchFamily="2" charset="2"/>
              </a:rPr>
              <a:t>Open folder / repo in </a:t>
            </a:r>
            <a:r>
              <a:rPr lang="en-US" kern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>
                <a:solidFill>
                  <a:sysClr val="windowText" lastClr="000000"/>
                </a:solidFill>
                <a:sym typeface="Wingdings" pitchFamily="2" charset="2"/>
              </a:rPr>
              <a:t>Open terminal: </a:t>
            </a:r>
            <a:r>
              <a:rPr lang="en-US" kern="0" err="1">
                <a:solidFill>
                  <a:sysClr val="windowText" lastClr="000000"/>
                </a:solidFill>
                <a:sym typeface="Wingdings" pitchFamily="2" charset="2"/>
              </a:rPr>
              <a:t>uv</a:t>
            </a:r>
            <a:r>
              <a:rPr lang="en-US" kern="0">
                <a:solidFill>
                  <a:sysClr val="windowText" lastClr="000000"/>
                </a:solidFill>
                <a:sym typeface="Wingdings" pitchFamily="2" charset="2"/>
              </a:rPr>
              <a:t> sync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>
                <a:solidFill>
                  <a:sysClr val="windowText" lastClr="000000"/>
                </a:solidFill>
              </a:rPr>
              <a:t>Run the </a:t>
            </a:r>
            <a:r>
              <a:rPr lang="en-US" kern="0" err="1">
                <a:solidFill>
                  <a:sysClr val="windowText" lastClr="000000"/>
                </a:solidFill>
              </a:rPr>
              <a:t>Jupyter</a:t>
            </a:r>
            <a:r>
              <a:rPr lang="en-US" kern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err="1">
                <a:solidFill>
                  <a:sysClr val="windowText" lastClr="000000"/>
                </a:solidFill>
              </a:rPr>
              <a:t>LAYOUT_STUDENT.ipynb</a:t>
            </a:r>
            <a:r>
              <a:rPr lang="en-US" kern="0">
                <a:solidFill>
                  <a:sysClr val="windowText" lastClr="000000"/>
                </a:solidFill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kern="0">
              <a:solidFill>
                <a:sysClr val="windowText" lastClr="0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kern="0">
                <a:solidFill>
                  <a:srgbClr val="FF0000"/>
                </a:solidFill>
              </a:rPr>
              <a:t>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>
                <a:solidFill>
                  <a:srgbClr val="FF0000"/>
                </a:solidFill>
              </a:rPr>
              <a:t>LO1: 3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>
                <a:solidFill>
                  <a:srgbClr val="FF0000"/>
                </a:solidFill>
              </a:rPr>
              <a:t>LO2: 3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>
                <a:solidFill>
                  <a:srgbClr val="FF0000"/>
                </a:solidFill>
              </a:rPr>
              <a:t>LO3: 1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>
                <a:solidFill>
                  <a:srgbClr val="FF0000"/>
                </a:solidFill>
              </a:rPr>
              <a:t>LO4: 3 points</a:t>
            </a:r>
          </a:p>
          <a:p>
            <a:pPr algn="just"/>
            <a:endParaRPr lang="en-US" b="1" i="1"/>
          </a:p>
          <a:p>
            <a:pPr algn="just"/>
            <a:endParaRPr lang="en-US" sz="2000" b="1" i="1"/>
          </a:p>
          <a:p>
            <a:pPr algn="just"/>
            <a:endParaRPr lang="en-US" sz="200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#1a – Notebook section 1. Technology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s-ES" b="0" i="1" spc="-5" dirty="0">
                <a:latin typeface="+mj-lt"/>
              </a:rPr>
              <a:t>“</a:t>
            </a:r>
            <a:r>
              <a:rPr lang="es-ES" b="0" i="1" spc="-5" dirty="0" err="1">
                <a:latin typeface="+mj-lt"/>
              </a:rPr>
              <a:t>We</a:t>
            </a:r>
            <a:r>
              <a:rPr lang="es-ES" b="0" i="1" spc="-5" dirty="0">
                <a:latin typeface="+mj-lt"/>
              </a:rPr>
              <a:t> </a:t>
            </a:r>
            <a:r>
              <a:rPr lang="es-ES" b="0" i="1" spc="-5" dirty="0" err="1">
                <a:latin typeface="+mj-lt"/>
              </a:rPr>
              <a:t>will</a:t>
            </a:r>
            <a:r>
              <a:rPr lang="es-ES" b="0" i="1" spc="-5" dirty="0">
                <a:latin typeface="+mj-lt"/>
              </a:rPr>
              <a:t> </a:t>
            </a:r>
            <a:r>
              <a:rPr lang="es-ES" b="0" i="1" spc="-5" dirty="0" err="1">
                <a:latin typeface="+mj-lt"/>
              </a:rPr>
              <a:t>work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with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the</a:t>
            </a:r>
            <a:r>
              <a:rPr lang="es-ES" b="0" i="1" spc="-5" dirty="0">
                <a:latin typeface="+mj-lt"/>
                <a:cs typeface="Lucida Sans"/>
              </a:rPr>
              <a:t> demo </a:t>
            </a:r>
            <a:r>
              <a:rPr lang="es-ES" b="0" i="1" spc="-5" dirty="0" err="1">
                <a:latin typeface="+mj-lt"/>
                <a:cs typeface="Lucida Sans"/>
              </a:rPr>
              <a:t>UPVfab</a:t>
            </a:r>
            <a:r>
              <a:rPr lang="es-ES" b="0" i="1" spc="-5" dirty="0">
                <a:latin typeface="+mj-lt"/>
                <a:cs typeface="Lucida Sans"/>
              </a:rPr>
              <a:t> PDK. </a:t>
            </a:r>
            <a:r>
              <a:rPr lang="es-ES" b="0" i="1" spc="-5" dirty="0" err="1">
                <a:latin typeface="+mj-lt"/>
                <a:cs typeface="Lucida Sans"/>
              </a:rPr>
              <a:t>Let's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view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the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layer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distribution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of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this</a:t>
            </a:r>
            <a:r>
              <a:rPr lang="es-ES" b="0" i="1" spc="-5" dirty="0">
                <a:latin typeface="+mj-lt"/>
                <a:cs typeface="Lucida Sans"/>
              </a:rPr>
              <a:t> PDK”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492797"/>
            <a:ext cx="11199971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numCol="1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Un PDK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conjunto </a:t>
            </a:r>
            <a:r>
              <a:rPr lang="es-ES" sz="1200" dirty="0"/>
              <a:t>de herramientas, archivos de tecnología y componentes verificados que proporciona una fábrica (</a:t>
            </a:r>
            <a:r>
              <a:rPr lang="es-ES" sz="1200" dirty="0" err="1"/>
              <a:t>foundry</a:t>
            </a:r>
            <a:r>
              <a:rPr lang="es-ES" sz="1200" dirty="0"/>
              <a:t>) para diseñar chips compatibles con sus procesos de fabricación.</a:t>
            </a:r>
          </a:p>
          <a:p>
            <a:r>
              <a:rPr lang="es-ES" sz="1200" dirty="0"/>
              <a:t>En general, las capas para el </a:t>
            </a:r>
            <a:r>
              <a:rPr lang="es-ES" sz="1200" dirty="0" err="1"/>
              <a:t>layout</a:t>
            </a:r>
            <a:r>
              <a:rPr lang="es-ES" sz="1200" dirty="0"/>
              <a:t> en un PDK Representan las diferentes máscaras litográficas y pasos físicos de fabricación (grabado de silicio, dopado, metalización, nitruro, etc.).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cs typeface="Arial" panose="020B0604020202020204" pitchFamily="34" charset="0"/>
              </a:rPr>
              <a:t>For our particular PDK we find the following layers, with number and label/description: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/>
              <a:t>WG (Layer 1/0): Guía de ondas (</a:t>
            </a:r>
            <a:r>
              <a:rPr lang="es-ES" sz="1200" dirty="0" err="1"/>
              <a:t>Waveguide</a:t>
            </a:r>
            <a:r>
              <a:rPr lang="es-ES" sz="1200" dirty="0"/>
              <a:t>) principal.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/>
              <a:t>HEATER (Layer 4/0): Capa metálica para los calentadores térmicos.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/>
              <a:t>SLAB (Layer 21/0): Capa para guías de onda tipo </a:t>
            </a:r>
            <a:r>
              <a:rPr lang="es-ES" sz="1200" dirty="0" err="1"/>
              <a:t>Rib</a:t>
            </a:r>
            <a:r>
              <a:rPr lang="es-ES" sz="1200" dirty="0"/>
              <a:t> (grabado parcial).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/>
              <a:t>PAD (Layer 41/0): Almohadillas metálicas para conexiones eléctricas externas.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/>
              <a:t>FLOORPLAN (Layer 99/0): Contorno físico o línea de corte del chip (Die).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AE4A84-532D-D50D-F368-79FF1C11E97A}"/>
              </a:ext>
            </a:extLst>
          </p:cNvPr>
          <p:cNvSpPr/>
          <p:nvPr/>
        </p:nvSpPr>
        <p:spPr>
          <a:xfrm>
            <a:off x="609441" y="1136087"/>
            <a:ext cx="5332571" cy="322873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24B9AF7-5B09-CE7C-68D9-8620B8F4F607}"/>
              </a:ext>
            </a:extLst>
          </p:cNvPr>
          <p:cNvSpPr txBox="1"/>
          <p:nvPr/>
        </p:nvSpPr>
        <p:spPr>
          <a:xfrm>
            <a:off x="1030563" y="2097198"/>
            <a:ext cx="4490332" cy="17543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highlight>
                  <a:srgbClr val="FFFFFF"/>
                </a:highlight>
                <a:latin typeface="Consolas"/>
              </a:rPr>
              <a:t>LAYER_VIEWS = </a:t>
            </a:r>
            <a:r>
              <a:rPr lang="en-US" dirty="0" err="1">
                <a:highlight>
                  <a:srgbClr val="FFFFFF"/>
                </a:highlight>
                <a:latin typeface="Consolas"/>
              </a:rPr>
              <a:t>PDK.layer_views</a:t>
            </a:r>
            <a:endParaRPr lang="en-US" dirty="0"/>
          </a:p>
          <a:p>
            <a:pPr algn="ctr"/>
            <a:r>
              <a:rPr lang="en-US" dirty="0">
                <a:highlight>
                  <a:srgbClr val="FFFFFF"/>
                </a:highlight>
                <a:latin typeface="Consolas"/>
              </a:rPr>
              <a:t>c = </a:t>
            </a:r>
            <a:r>
              <a:rPr lang="en-US" dirty="0" err="1">
                <a:highlight>
                  <a:srgbClr val="FFFFFF"/>
                </a:highlight>
                <a:latin typeface="Consolas"/>
              </a:rPr>
              <a:t>LAYER_VIEWS.preview_layerset</a:t>
            </a:r>
            <a:r>
              <a:rPr lang="en-US" dirty="0">
                <a:highlight>
                  <a:srgbClr val="FFFFFF"/>
                </a:highlight>
                <a:latin typeface="Consolas"/>
              </a:rPr>
              <a:t>()</a:t>
            </a:r>
            <a:endParaRPr lang="en-US" dirty="0"/>
          </a:p>
          <a:p>
            <a:pPr algn="ctr"/>
            <a:r>
              <a:rPr lang="en-US" dirty="0" err="1">
                <a:highlight>
                  <a:srgbClr val="FFFFFF"/>
                </a:highlight>
                <a:latin typeface="Consolas"/>
              </a:rPr>
              <a:t>c.show</a:t>
            </a:r>
            <a:r>
              <a:rPr lang="en-US" dirty="0">
                <a:highlight>
                  <a:srgbClr val="FFFFFF"/>
                </a:highlight>
                <a:latin typeface="Consolas"/>
              </a:rPr>
              <a:t>()</a:t>
            </a:r>
            <a:endParaRPr lang="en-US" dirty="0"/>
          </a:p>
          <a:p>
            <a:pPr algn="ctr"/>
            <a:r>
              <a:rPr lang="en-US" dirty="0" err="1">
                <a:highlight>
                  <a:srgbClr val="FFFFFF"/>
                </a:highlight>
                <a:latin typeface="Consolas"/>
              </a:rPr>
              <a:t>c.plot</a:t>
            </a:r>
            <a:r>
              <a:rPr lang="en-US" dirty="0">
                <a:highlight>
                  <a:srgbClr val="FFFFFF"/>
                </a:highlight>
                <a:latin typeface="Consolas"/>
              </a:rPr>
              <a:t>()</a:t>
            </a:r>
            <a:endParaRPr lang="en-US" dirty="0"/>
          </a:p>
          <a:p>
            <a:pPr algn="ctr"/>
            <a:endParaRPr lang="en-US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BEC3D78-C227-4F8E-7F5D-F398FB043D20}"/>
              </a:ext>
            </a:extLst>
          </p:cNvPr>
          <p:cNvSpPr/>
          <p:nvPr/>
        </p:nvSpPr>
        <p:spPr>
          <a:xfrm>
            <a:off x="6476841" y="1138120"/>
            <a:ext cx="5332571" cy="3226705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5806D5A-9C65-5DDA-AF7C-30CC28E9C38F}"/>
              </a:ext>
            </a:extLst>
          </p:cNvPr>
          <p:cNvSpPr txBox="1"/>
          <p:nvPr/>
        </p:nvSpPr>
        <p:spPr>
          <a:xfrm>
            <a:off x="7925522" y="2214053"/>
            <a:ext cx="243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Paste </a:t>
            </a:r>
            <a:r>
              <a:rPr lang="es-ES" err="1"/>
              <a:t>plot</a:t>
            </a:r>
            <a:r>
              <a:rPr lang="es-ES"/>
              <a:t> </a:t>
            </a:r>
            <a:r>
              <a:rPr lang="es-ES" err="1"/>
              <a:t>of</a:t>
            </a:r>
            <a:r>
              <a:rPr lang="es-ES"/>
              <a:t> </a:t>
            </a:r>
            <a:r>
              <a:rPr lang="es-ES" err="1"/>
              <a:t>layers</a:t>
            </a:r>
            <a:r>
              <a:rPr lang="es-ES"/>
              <a:t> </a:t>
            </a:r>
            <a:r>
              <a:rPr lang="es-ES" err="1"/>
              <a:t>here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F14CA-E10D-F822-4ED3-B133857EB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510" y="1213376"/>
            <a:ext cx="4353232" cy="315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1758-3D0C-3510-194A-4075C73D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F925C6-A9EE-0450-6CF3-EB5E905BE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DC component 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Resonators”.  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1751C67-979A-7D64-9474-F59456848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5A815B6-7BA3-E2CF-377E-EACA0F621F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8AEC9F-5174-0EEA-5CD3-65515392F16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BE4500-9BE4-025B-9167-E8AC6466B028}"/>
              </a:ext>
            </a:extLst>
          </p:cNvPr>
          <p:cNvSpPr txBox="1"/>
          <p:nvPr/>
        </p:nvSpPr>
        <p:spPr>
          <a:xfrm>
            <a:off x="583019" y="5614720"/>
            <a:ext cx="1119997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Este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acoplador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direccional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(DC)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diseñado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Lab2. Es un divisor 2x2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K = 0.5.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dimensiones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relevantes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son: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región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length = 86.982 µm, gap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0.8 µm y ancho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width = 1.2 µm.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posiciones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las entradas/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respecto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centro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están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separadas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±40.0 µm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y ±30.0 µm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X gracias a las curvas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364273-7E07-9E83-F4A6-1AFD1AEFE243}"/>
              </a:ext>
            </a:extLst>
          </p:cNvPr>
          <p:cNvSpPr/>
          <p:nvPr/>
        </p:nvSpPr>
        <p:spPr>
          <a:xfrm>
            <a:off x="609441" y="1418372"/>
            <a:ext cx="5867400" cy="4139483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1E968B-0AE0-37CB-7468-A50896329E70}"/>
              </a:ext>
            </a:extLst>
          </p:cNvPr>
          <p:cNvSpPr/>
          <p:nvPr/>
        </p:nvSpPr>
        <p:spPr>
          <a:xfrm>
            <a:off x="6476841" y="1420405"/>
            <a:ext cx="5332571" cy="4137449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877566-4E2F-8CE5-3749-EB4B91552614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Component</a:t>
            </a:r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A1840B6-980F-9B78-6B10-7505BBDC0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502" y="1659102"/>
            <a:ext cx="4689079" cy="353979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0484071-7C31-1E00-991B-CDC8D2CAC9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93" y="1418373"/>
            <a:ext cx="4888275" cy="411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424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4BE19-B96E-0B36-854E-7973CC66E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07A3FA2D-580C-D90A-241C-000A8922A1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MMI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06DB22F2-723B-D713-8DE1-3C28C895DA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3ACE7237-304A-3A82-6748-E04780866F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A86AEF-31E8-0BF2-E7B1-8078CEFC561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B0477D0-63D4-E17D-2FE9-CF2A16EADE7A}"/>
              </a:ext>
            </a:extLst>
          </p:cNvPr>
          <p:cNvSpPr txBox="1"/>
          <p:nvPr/>
        </p:nvSpPr>
        <p:spPr>
          <a:xfrm>
            <a:off x="6476840" y="4452746"/>
            <a:ext cx="5332571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Esta es la MMI 2x2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diseñada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Lab2. Es un divisor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multimodo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K = 0.5.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dimensiones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relevantes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son: ancho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bloque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W_MMI = 6.6 µm,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bloque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L_MMI = 34.718 µm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correspondiente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L_MMI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dL_MMI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34.518 + 0.2 µm del Lab2) y ancho de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acceso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W_wg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1.8 µm.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posiciones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las entradas/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respecto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centro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bloque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±W_MMI/6 ±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resultando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±1.1 µm con un offset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ajuste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0.1 µm,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acceso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L_wg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10.0 µm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FEF74CB-0393-048A-87FA-60B7A0C7E42C}"/>
              </a:ext>
            </a:extLst>
          </p:cNvPr>
          <p:cNvSpPr/>
          <p:nvPr/>
        </p:nvSpPr>
        <p:spPr>
          <a:xfrm>
            <a:off x="609441" y="1418372"/>
            <a:ext cx="5332571" cy="4936075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709E5DF-1EA9-1808-C8A8-5534E0863441}"/>
              </a:ext>
            </a:extLst>
          </p:cNvPr>
          <p:cNvSpPr txBox="1"/>
          <p:nvPr/>
        </p:nvSpPr>
        <p:spPr>
          <a:xfrm>
            <a:off x="2375901" y="2494306"/>
            <a:ext cx="17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Component code</a:t>
            </a:r>
          </a:p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936C738-DC58-A03F-083C-B248CDC69A46}"/>
              </a:ext>
            </a:extLst>
          </p:cNvPr>
          <p:cNvSpPr/>
          <p:nvPr/>
        </p:nvSpPr>
        <p:spPr>
          <a:xfrm>
            <a:off x="6476841" y="1420406"/>
            <a:ext cx="5332571" cy="2883355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262F5D7-4B9F-D3E7-9139-F612A571B9B2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Component</a:t>
            </a:r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1BE98B-A024-33BC-C4B0-0880CF0EE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837" y="1556640"/>
            <a:ext cx="3458575" cy="261088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71F3AD4-5E8A-72A3-1A38-BC8B5770F6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000" y="1509411"/>
            <a:ext cx="3769599" cy="479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2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DE7B3-C483-4A19-26A6-61B13A25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A27DCBF5-F8BC-07FE-7B32-1FE178B099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 err="1">
                <a:solidFill>
                  <a:srgbClr val="FF0000"/>
                </a:solidFill>
              </a:rPr>
              <a:t>MMI_bend</a:t>
            </a:r>
            <a:r>
              <a:rPr lang="en-US" sz="2500" dirty="0">
                <a:solidFill>
                  <a:srgbClr val="FF0000"/>
                </a:solidFill>
              </a:rPr>
              <a:t>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82985E7-7F94-5BA6-C744-3B05F5368E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A62C6F1D-0729-37E4-6547-7575C5FAD2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EABCBE-55A2-8479-D9D2-D474DCB6A7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9F70A99-C15B-23DC-1AB4-3555897FBBE6}"/>
              </a:ext>
            </a:extLst>
          </p:cNvPr>
          <p:cNvSpPr txBox="1"/>
          <p:nvPr/>
        </p:nvSpPr>
        <p:spPr>
          <a:xfrm>
            <a:off x="6476840" y="4599833"/>
            <a:ext cx="533257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Esta es la MMI 2x2 con curvas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versión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extendida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bloque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anterior.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Mantiene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mismas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dimensiones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núcleo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multimodo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W_MMI = 6.6 µm, L_MMI = 34.718 µm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W_wg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1.8 µm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acceso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L_wg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10.0 µm.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diferencia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respecto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versión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anterior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puerto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lleva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conectada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curva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dimensiones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dx_bend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30.0 µm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X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dy_bend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40.0 µm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Y,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separa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entradas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hasta ±40.0 µm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respecto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eje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central,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facilitando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conexión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layout.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CBEC787-516C-864D-5FF6-36FAA7C338C1}"/>
              </a:ext>
            </a:extLst>
          </p:cNvPr>
          <p:cNvSpPr/>
          <p:nvPr/>
        </p:nvSpPr>
        <p:spPr>
          <a:xfrm>
            <a:off x="609441" y="1418372"/>
            <a:ext cx="5332571" cy="4936075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2C7A64A-A121-F28A-3279-5BA006F3879E}"/>
              </a:ext>
            </a:extLst>
          </p:cNvPr>
          <p:cNvSpPr txBox="1"/>
          <p:nvPr/>
        </p:nvSpPr>
        <p:spPr>
          <a:xfrm>
            <a:off x="2375901" y="2494306"/>
            <a:ext cx="17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Component code</a:t>
            </a:r>
          </a:p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3BD1100-8C32-1A2A-944E-242CE9583CE9}"/>
              </a:ext>
            </a:extLst>
          </p:cNvPr>
          <p:cNvSpPr/>
          <p:nvPr/>
        </p:nvSpPr>
        <p:spPr>
          <a:xfrm>
            <a:off x="6476841" y="1420405"/>
            <a:ext cx="5332571" cy="2992863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6304F8A-6E80-1370-7F50-CD3D7AAA9F1C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Component</a:t>
            </a:r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19041E-B55D-B299-085A-7B9A7CFCB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371" y="1459758"/>
            <a:ext cx="3883455" cy="293162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7B1F2C0-0E21-234B-D94B-CA9F1AD527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788" y="1459758"/>
            <a:ext cx="3226773" cy="485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22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8F4C5-F323-5A82-93B1-7C3FC9CE5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E50CBF8-E3F0-A9C0-2B82-F23BE657B7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Ring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C3BCFA4-7D66-CF3A-9DE9-090FC693EB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3AB51C8-B02E-886E-E689-104A917EB9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15CF66-5771-DA5A-0100-BD94BF9DDF7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0C60DE4-6A9E-F951-FE6F-77F62CCF6706}"/>
              </a:ext>
            </a:extLst>
          </p:cNvPr>
          <p:cNvSpPr txBox="1"/>
          <p:nvPr/>
        </p:nvSpPr>
        <p:spPr>
          <a:xfrm>
            <a:off x="7868253" y="4430353"/>
            <a:ext cx="3950515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Este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resonador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anillo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2x2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Mantiene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mismo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núcleo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multimodo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W_MMI = 6.6 µm, L_MMI = 34.718 µm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acceso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W_wg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1.8 µm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L_wg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10.0 µm. 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anillo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cierra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mediante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curvas de Euler de 180° con radio = 50.0 µm,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MMI,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conectadas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recta superior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igual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separación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vertical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puertos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o2 y o3.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puertos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externos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o1 y o4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actúan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entrada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salida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dispositivo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1A431E9-7FAD-8EC3-891B-A7302F869093}"/>
              </a:ext>
            </a:extLst>
          </p:cNvPr>
          <p:cNvSpPr/>
          <p:nvPr/>
        </p:nvSpPr>
        <p:spPr>
          <a:xfrm>
            <a:off x="609441" y="1418373"/>
            <a:ext cx="7162959" cy="4936075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3499ED-D5A5-625F-99E8-5A6FA2C9E399}"/>
              </a:ext>
            </a:extLst>
          </p:cNvPr>
          <p:cNvSpPr/>
          <p:nvPr/>
        </p:nvSpPr>
        <p:spPr>
          <a:xfrm>
            <a:off x="7858897" y="1420406"/>
            <a:ext cx="3950515" cy="2929172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368ADB1-7CFE-8CAD-30E8-07BD54F90A94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Component</a:t>
            </a:r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4F831F7-EC45-9852-3C0B-0C1F842B0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911" y="1501181"/>
            <a:ext cx="3773201" cy="2848397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2BE7166-7A47-7ADB-9AF9-3AEA2DD8F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63034"/>
            <a:ext cx="2409583" cy="484837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DB529875-92B6-FFC2-3453-DAAB8A5671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644" y="2743201"/>
            <a:ext cx="4572494" cy="269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65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DA347-1FD3-E6B2-18CB-39EF3B577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DD002369-0397-29A6-BCDF-CD2AF9DF4D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MZI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F5260DB-31E0-F1EF-8E7D-D850C67C7E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1A62884-7ECB-497C-B03A-3F39AB4DB53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5F93BD-B2DB-19FD-6402-118AA35B675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1E50A20-0FFA-D38C-0D6E-5C2A817284EE}"/>
              </a:ext>
            </a:extLst>
          </p:cNvPr>
          <p:cNvSpPr txBox="1"/>
          <p:nvPr/>
        </p:nvSpPr>
        <p:spPr>
          <a:xfrm>
            <a:off x="382588" y="5517891"/>
            <a:ext cx="11426823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Este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interferómetro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Mach-Zehnder (MZI) 2x2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diseñado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Lab3,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construido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dos MMI 2x2 con curvas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divisor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combinador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Utiliza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mismas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dimensiones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MMI del Lab2: W_MMI = 6.6 µm, L_MMI = 34.718 µm,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W_wg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1.8 µm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L_wg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10.0 µm, con curvas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dx_bend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30.0 µm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dy_bend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40.0 µm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separan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puertos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±40.0 µm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respecto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eje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central. Los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brazos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interferómetro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longitud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base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L_brazo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400.0 µm.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E00AF2D-B3E6-AEA2-2C47-9FF846083943}"/>
              </a:ext>
            </a:extLst>
          </p:cNvPr>
          <p:cNvSpPr/>
          <p:nvPr/>
        </p:nvSpPr>
        <p:spPr>
          <a:xfrm>
            <a:off x="382588" y="1422259"/>
            <a:ext cx="7991529" cy="3866433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B25B852-333A-0BFE-021D-EEC8464A0A8D}"/>
              </a:ext>
            </a:extLst>
          </p:cNvPr>
          <p:cNvSpPr txBox="1"/>
          <p:nvPr/>
        </p:nvSpPr>
        <p:spPr>
          <a:xfrm>
            <a:off x="2375901" y="2494306"/>
            <a:ext cx="17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Component code</a:t>
            </a:r>
          </a:p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3EDE5D2-5789-C212-2F67-5C3FFD6A23DA}"/>
              </a:ext>
            </a:extLst>
          </p:cNvPr>
          <p:cNvSpPr/>
          <p:nvPr/>
        </p:nvSpPr>
        <p:spPr>
          <a:xfrm>
            <a:off x="8439665" y="1420406"/>
            <a:ext cx="3369747" cy="3866433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1AC85A-36E9-DC39-424A-A203F00C6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12" y="1918204"/>
            <a:ext cx="3238652" cy="244486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AD90BF8-2313-9041-A15F-1056A98AD4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03" y="1467403"/>
            <a:ext cx="3718658" cy="369652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B5803C1-52E2-8DCE-FE08-E85C1E4F9F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54" y="1494589"/>
            <a:ext cx="4104169" cy="364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423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5C3E-1D9A-E4BA-551D-EF35D54B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B4FFF438-E221-91A6-0328-20AD27EC9E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MZI unbalanced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CF6FA71A-D07D-C5CA-BD26-0A7E3AC079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5DF5E8B7-B132-4392-A67A-639EE98C82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1AB6B80-6E46-3D6F-AFF4-8037186B71E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9FED3A0-043C-C7E4-7AA3-FC6F42023F18}"/>
              </a:ext>
            </a:extLst>
          </p:cNvPr>
          <p:cNvSpPr txBox="1"/>
          <p:nvPr/>
        </p:nvSpPr>
        <p:spPr>
          <a:xfrm>
            <a:off x="609441" y="3089300"/>
            <a:ext cx="5640549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Este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interferómetro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Mach-Zehnder (MZI) 2x2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generado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directamente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componente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estándar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gdsfactory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 mzi2x2_2x2, con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desequilibrio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brazos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delta_length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240 µm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diseñado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Free Spectral Range (FSR)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aproximadamente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5 nm.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C89385A-F831-3C85-3E65-F5EF6CBBA823}"/>
              </a:ext>
            </a:extLst>
          </p:cNvPr>
          <p:cNvSpPr/>
          <p:nvPr/>
        </p:nvSpPr>
        <p:spPr>
          <a:xfrm>
            <a:off x="609441" y="1513211"/>
            <a:ext cx="5640549" cy="139398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764C528-78A3-80DB-E1D8-1F7A83D2C57A}"/>
              </a:ext>
            </a:extLst>
          </p:cNvPr>
          <p:cNvSpPr/>
          <p:nvPr/>
        </p:nvSpPr>
        <p:spPr>
          <a:xfrm>
            <a:off x="6476841" y="1420405"/>
            <a:ext cx="5332571" cy="4115421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30F1338-A5AC-9197-1950-AD166260E15A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Component</a:t>
            </a:r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9FDCB3-BE24-BDF4-FC8D-94E14EAC0E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76803"/>
            <a:ext cx="4013200" cy="10668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1C467BE-D699-2D46-4D66-996A010E5A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326" y="1458032"/>
            <a:ext cx="51816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489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B0A8-BCE1-AF65-5AFA-79184BED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DCA2EEE-70B8-D049-D7BD-B54DCCF32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#2a – Notebook section 2. Layout Fundamentals</a:t>
            </a:r>
            <a:br>
              <a:rPr lang="en-US" sz="2500" dirty="0"/>
            </a:br>
            <a:r>
              <a:rPr lang="en-US" sz="1800" b="0" i="1" dirty="0"/>
              <a:t>“Once that we have a working 'new' component, we shall convert it into a Cell. This will allow us to have a hierarchical design”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DB8C9DA-7093-6464-A7C1-20B2A585A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102C027-A211-C670-7EF5-D7A4650EEA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BB5A66E-75F8-8688-0D68-26E0DDB3AC8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5C0B36B-B4BD-C242-E1BB-26DD7AC56DB0}"/>
              </a:ext>
            </a:extLst>
          </p:cNvPr>
          <p:cNvSpPr txBox="1"/>
          <p:nvPr/>
        </p:nvSpPr>
        <p:spPr>
          <a:xfrm>
            <a:off x="630350" y="5383514"/>
            <a:ext cx="1119997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Este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die (chip) base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diseño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definido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celda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rectangulo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hueco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unbored exterior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dimensiones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dieW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×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uno interior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desplazado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250 µm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dejando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marco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250 µm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capa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FLOORPLAN. 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bloque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instancian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dies: dos de 5000 × 5000 µm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colocados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uno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X, y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tercero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12000 × 5000 µm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desplazado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5000 µm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abajo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Y.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99364F4-A34A-5161-07CB-E12F9FFCB400}"/>
              </a:ext>
            </a:extLst>
          </p:cNvPr>
          <p:cNvSpPr/>
          <p:nvPr/>
        </p:nvSpPr>
        <p:spPr>
          <a:xfrm>
            <a:off x="609441" y="1418372"/>
            <a:ext cx="5655435" cy="3854397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A2AA3F-CE55-C50B-CB18-2C8D2061FDB9}"/>
              </a:ext>
            </a:extLst>
          </p:cNvPr>
          <p:cNvSpPr txBox="1"/>
          <p:nvPr/>
        </p:nvSpPr>
        <p:spPr>
          <a:xfrm>
            <a:off x="1531412" y="2494306"/>
            <a:ext cx="34886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Example code for</a:t>
            </a:r>
          </a:p>
          <a:p>
            <a:pPr algn="ctr"/>
            <a:r>
              <a:rPr lang="en-US" dirty="0"/>
              <a:t>“A die (chip) for a photonic layout”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DFC788C-53E2-83E7-3D9E-EBD582171C71}"/>
              </a:ext>
            </a:extLst>
          </p:cNvPr>
          <p:cNvSpPr/>
          <p:nvPr/>
        </p:nvSpPr>
        <p:spPr>
          <a:xfrm>
            <a:off x="6476841" y="1420405"/>
            <a:ext cx="5332571" cy="3852363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44A1ED-9D94-1354-DB46-756E574E2C7E}"/>
              </a:ext>
            </a:extLst>
          </p:cNvPr>
          <p:cNvSpPr txBox="1"/>
          <p:nvPr/>
        </p:nvSpPr>
        <p:spPr>
          <a:xfrm>
            <a:off x="8483018" y="2496339"/>
            <a:ext cx="1320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Example</a:t>
            </a:r>
            <a:r>
              <a:rPr lang="es-ES"/>
              <a:t> die</a:t>
            </a:r>
          </a:p>
          <a:p>
            <a:pPr algn="ctr"/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82A64C-0CF1-98C8-C92C-CDD1812B09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75" y="1471761"/>
            <a:ext cx="5180919" cy="375637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14AA5B9-EF92-E854-2D06-A653EBE6D0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517" y="1585232"/>
            <a:ext cx="4698064" cy="354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4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281E-4B83-CADF-E05C-2779A19E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C614703-AB72-E989-42B5-849A55E9B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DC component cell</a:t>
            </a:r>
            <a:br>
              <a:rPr lang="en-US" sz="2500" dirty="0"/>
            </a:br>
            <a:r>
              <a:rPr lang="en-US" sz="1800" b="0" i="1" dirty="0"/>
              <a:t>En </a:t>
            </a:r>
            <a:r>
              <a:rPr lang="en-US" sz="1800" b="0" i="1" dirty="0" err="1"/>
              <a:t>este</a:t>
            </a:r>
            <a:r>
              <a:rPr lang="en-US" sz="1800" b="0" i="1" dirty="0"/>
              <a:t> </a:t>
            </a:r>
            <a:r>
              <a:rPr lang="en-US" sz="1800" b="0" i="1" dirty="0" err="1"/>
              <a:t>bloque</a:t>
            </a:r>
            <a:r>
              <a:rPr lang="en-US" sz="1800" b="0" i="1" dirty="0"/>
              <a:t> se </a:t>
            </a:r>
            <a:r>
              <a:rPr lang="en-US" sz="1800" b="0" i="1" dirty="0" err="1"/>
              <a:t>definen</a:t>
            </a:r>
            <a:r>
              <a:rPr lang="en-US" sz="1800" b="0" i="1" dirty="0"/>
              <a:t> </a:t>
            </a:r>
            <a:r>
              <a:rPr lang="en-US" sz="1800" b="0" i="1" dirty="0" err="1"/>
              <a:t>los</a:t>
            </a:r>
            <a:r>
              <a:rPr lang="en-US" sz="1800" b="0" i="1" dirty="0"/>
              <a:t> </a:t>
            </a:r>
            <a:r>
              <a:rPr lang="en-US" sz="1800" b="0" i="1" dirty="0" err="1"/>
              <a:t>componentes</a:t>
            </a:r>
            <a:r>
              <a:rPr lang="en-US" sz="1800" b="0" i="1" dirty="0"/>
              <a:t> </a:t>
            </a:r>
            <a:r>
              <a:rPr lang="en-US" sz="1800" b="0" i="1" dirty="0" err="1"/>
              <a:t>como</a:t>
            </a:r>
            <a:r>
              <a:rPr lang="en-US" sz="1800" b="0" i="1" dirty="0"/>
              <a:t> </a:t>
            </a:r>
            <a:r>
              <a:rPr lang="en-US" sz="1800" b="0" i="1" dirty="0" err="1"/>
              <a:t>celdas</a:t>
            </a:r>
            <a:r>
              <a:rPr lang="en-US" sz="1800" b="0" i="1" dirty="0"/>
              <a:t> </a:t>
            </a:r>
            <a:r>
              <a:rPr lang="en-US" sz="1800" b="0" i="1" dirty="0" err="1"/>
              <a:t>paramétricas</a:t>
            </a:r>
            <a:r>
              <a:rPr lang="en-US" sz="1800" b="0" i="1" dirty="0"/>
              <a:t> </a:t>
            </a:r>
            <a:r>
              <a:rPr lang="en-US" sz="1800" b="0" i="1" dirty="0" err="1"/>
              <a:t>reutilizables</a:t>
            </a:r>
            <a:r>
              <a:rPr lang="en-US" sz="1800" b="0" i="1" dirty="0"/>
              <a:t> </a:t>
            </a:r>
            <a:r>
              <a:rPr lang="en-US" sz="1800" b="0" i="1" dirty="0" err="1"/>
              <a:t>mediante</a:t>
            </a:r>
            <a:r>
              <a:rPr lang="en-US" sz="1800" b="0" i="1" dirty="0"/>
              <a:t> @</a:t>
            </a:r>
            <a:r>
              <a:rPr lang="en-US" sz="1800" b="0" i="1" dirty="0" err="1"/>
              <a:t>gf.cell</a:t>
            </a:r>
            <a:r>
              <a:rPr lang="en-US" sz="1800" b="0" i="1" dirty="0"/>
              <a:t>. Nos </a:t>
            </a:r>
            <a:r>
              <a:rPr lang="en-US" sz="1800" b="0" i="1" dirty="0" err="1"/>
              <a:t>permite</a:t>
            </a:r>
            <a:r>
              <a:rPr lang="en-US" sz="1800" b="0" i="1" dirty="0"/>
              <a:t> </a:t>
            </a:r>
            <a:r>
              <a:rPr lang="en-US" sz="1800" b="0" i="1" dirty="0" err="1"/>
              <a:t>instanciar</a:t>
            </a:r>
            <a:r>
              <a:rPr lang="en-US" sz="1800" b="0" i="1" dirty="0"/>
              <a:t> </a:t>
            </a:r>
            <a:r>
              <a:rPr lang="en-US" sz="1800" b="0" i="1" dirty="0" err="1"/>
              <a:t>cada</a:t>
            </a:r>
            <a:r>
              <a:rPr lang="en-US" sz="1800" b="0" i="1" dirty="0"/>
              <a:t> </a:t>
            </a:r>
            <a:r>
              <a:rPr lang="en-US" sz="1800" b="0" i="1" dirty="0" err="1"/>
              <a:t>componente</a:t>
            </a:r>
            <a:r>
              <a:rPr lang="en-US" sz="1800" b="0" i="1" dirty="0"/>
              <a:t> </a:t>
            </a:r>
            <a:r>
              <a:rPr lang="en-US" sz="1800" b="0" i="1" dirty="0" err="1"/>
              <a:t>múltiples</a:t>
            </a:r>
            <a:r>
              <a:rPr lang="en-US" sz="1800" b="0" i="1" dirty="0"/>
              <a:t> </a:t>
            </a:r>
            <a:r>
              <a:rPr lang="en-US" sz="1800" b="0" i="1" dirty="0" err="1"/>
              <a:t>veces</a:t>
            </a:r>
            <a:r>
              <a:rPr lang="en-US" sz="1800" b="0" i="1" dirty="0"/>
              <a:t> con </a:t>
            </a:r>
            <a:r>
              <a:rPr lang="en-US" sz="1800" b="0" i="1" dirty="0" err="1"/>
              <a:t>distintos</a:t>
            </a:r>
            <a:r>
              <a:rPr lang="en-US" sz="1800" b="0" i="1" dirty="0"/>
              <a:t> </a:t>
            </a:r>
            <a:r>
              <a:rPr lang="en-US" sz="1800" b="0" i="1" dirty="0" err="1"/>
              <a:t>parámetros</a:t>
            </a:r>
            <a:r>
              <a:rPr lang="en-US" sz="1800" b="0" i="1" dirty="0"/>
              <a:t>.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2356666-601E-2F0B-B414-AFB7213C2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6398BF1-A4DD-D652-E241-5E9DB50DD5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C070D5-9297-7D8B-73E0-DC21D7D5CE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C2352E-973A-F389-F6A1-D644E07F2E7E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2D8CBF-451B-83CB-7D64-3CD9C64B8333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Component as cell code</a:t>
            </a:r>
          </a:p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AAC818-8C43-CF5D-4DB7-21D1E6A0DEED}"/>
              </a:ext>
            </a:extLst>
          </p:cNvPr>
          <p:cNvSpPr/>
          <p:nvPr/>
        </p:nvSpPr>
        <p:spPr>
          <a:xfrm>
            <a:off x="6476841" y="1420406"/>
            <a:ext cx="5332571" cy="4749761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E0254F2-3F36-2B82-F469-33464298D91B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Component</a:t>
            </a:r>
            <a:r>
              <a:rPr lang="es-ES"/>
              <a:t> as </a:t>
            </a:r>
            <a:r>
              <a:rPr lang="es-ES" err="1"/>
              <a:t>cell</a:t>
            </a:r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46957B-EFC1-19D9-F78C-C6DA77BFD6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755" y="1448411"/>
            <a:ext cx="4565822" cy="469171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71FCF8D-F894-7CA7-0B72-CAD554671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326" y="1551453"/>
            <a:ext cx="51816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02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BBFEF-1774-C7A8-610B-5642443FC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A65A830D-627E-6E45-70A5-DEEFAA95CF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MMI cell</a:t>
            </a:r>
            <a:br>
              <a:rPr lang="en-US" sz="2500" dirty="0"/>
            </a:br>
            <a:r>
              <a:rPr lang="en-US" sz="1800" b="0" i="1" dirty="0"/>
              <a:t>En </a:t>
            </a:r>
            <a:r>
              <a:rPr lang="en-US" sz="1800" b="0" i="1" dirty="0" err="1"/>
              <a:t>este</a:t>
            </a:r>
            <a:r>
              <a:rPr lang="en-US" sz="1800" b="0" i="1" dirty="0"/>
              <a:t> </a:t>
            </a:r>
            <a:r>
              <a:rPr lang="en-US" sz="1800" b="0" i="1" dirty="0" err="1"/>
              <a:t>bloque</a:t>
            </a:r>
            <a:r>
              <a:rPr lang="en-US" sz="1800" b="0" i="1" dirty="0"/>
              <a:t> se </a:t>
            </a:r>
            <a:r>
              <a:rPr lang="en-US" sz="1800" b="0" i="1" dirty="0" err="1"/>
              <a:t>definen</a:t>
            </a:r>
            <a:r>
              <a:rPr lang="en-US" sz="1800" b="0" i="1" dirty="0"/>
              <a:t> </a:t>
            </a:r>
            <a:r>
              <a:rPr lang="en-US" sz="1800" b="0" i="1" dirty="0" err="1"/>
              <a:t>los</a:t>
            </a:r>
            <a:r>
              <a:rPr lang="en-US" sz="1800" b="0" i="1" dirty="0"/>
              <a:t> </a:t>
            </a:r>
            <a:r>
              <a:rPr lang="en-US" sz="1800" b="0" i="1" dirty="0" err="1"/>
              <a:t>componentes</a:t>
            </a:r>
            <a:r>
              <a:rPr lang="en-US" sz="1800" b="0" i="1" dirty="0"/>
              <a:t> </a:t>
            </a:r>
            <a:r>
              <a:rPr lang="en-US" sz="1800" b="0" i="1" dirty="0" err="1"/>
              <a:t>como</a:t>
            </a:r>
            <a:r>
              <a:rPr lang="en-US" sz="1800" b="0" i="1" dirty="0"/>
              <a:t> </a:t>
            </a:r>
            <a:r>
              <a:rPr lang="en-US" sz="1800" b="0" i="1" dirty="0" err="1"/>
              <a:t>celdas</a:t>
            </a:r>
            <a:r>
              <a:rPr lang="en-US" sz="1800" b="0" i="1" dirty="0"/>
              <a:t> </a:t>
            </a:r>
            <a:r>
              <a:rPr lang="en-US" sz="1800" b="0" i="1" dirty="0" err="1"/>
              <a:t>paramétricas</a:t>
            </a:r>
            <a:r>
              <a:rPr lang="en-US" sz="1800" b="0" i="1" dirty="0"/>
              <a:t> </a:t>
            </a:r>
            <a:r>
              <a:rPr lang="en-US" sz="1800" b="0" i="1" dirty="0" err="1"/>
              <a:t>reutilizables</a:t>
            </a:r>
            <a:r>
              <a:rPr lang="en-US" sz="1800" b="0" i="1" dirty="0"/>
              <a:t> </a:t>
            </a:r>
            <a:r>
              <a:rPr lang="en-US" sz="1800" b="0" i="1" dirty="0" err="1"/>
              <a:t>mediante</a:t>
            </a:r>
            <a:r>
              <a:rPr lang="en-US" sz="1800" b="0" i="1" dirty="0"/>
              <a:t> @</a:t>
            </a:r>
            <a:r>
              <a:rPr lang="en-US" sz="1800" b="0" i="1" dirty="0" err="1"/>
              <a:t>gf.cell</a:t>
            </a:r>
            <a:r>
              <a:rPr lang="en-US" sz="1800" b="0" i="1" dirty="0"/>
              <a:t>. Nos </a:t>
            </a:r>
            <a:r>
              <a:rPr lang="en-US" sz="1800" b="0" i="1" dirty="0" err="1"/>
              <a:t>permite</a:t>
            </a:r>
            <a:r>
              <a:rPr lang="en-US" sz="1800" b="0" i="1" dirty="0"/>
              <a:t> </a:t>
            </a:r>
            <a:r>
              <a:rPr lang="en-US" sz="1800" b="0" i="1" dirty="0" err="1"/>
              <a:t>instanciar</a:t>
            </a:r>
            <a:r>
              <a:rPr lang="en-US" sz="1800" b="0" i="1" dirty="0"/>
              <a:t> </a:t>
            </a:r>
            <a:r>
              <a:rPr lang="en-US" sz="1800" b="0" i="1" dirty="0" err="1"/>
              <a:t>cada</a:t>
            </a:r>
            <a:r>
              <a:rPr lang="en-US" sz="1800" b="0" i="1" dirty="0"/>
              <a:t> </a:t>
            </a:r>
            <a:r>
              <a:rPr lang="en-US" sz="1800" b="0" i="1" dirty="0" err="1"/>
              <a:t>componente</a:t>
            </a:r>
            <a:r>
              <a:rPr lang="en-US" sz="1800" b="0" i="1" dirty="0"/>
              <a:t> </a:t>
            </a:r>
            <a:r>
              <a:rPr lang="en-US" sz="1800" b="0" i="1" dirty="0" err="1"/>
              <a:t>múltiples</a:t>
            </a:r>
            <a:r>
              <a:rPr lang="en-US" sz="1800" b="0" i="1" dirty="0"/>
              <a:t> </a:t>
            </a:r>
            <a:r>
              <a:rPr lang="en-US" sz="1800" b="0" i="1" dirty="0" err="1"/>
              <a:t>veces</a:t>
            </a:r>
            <a:r>
              <a:rPr lang="en-US" sz="1800" b="0" i="1" dirty="0"/>
              <a:t> con </a:t>
            </a:r>
            <a:r>
              <a:rPr lang="en-US" sz="1800" b="0" i="1" dirty="0" err="1"/>
              <a:t>distintos</a:t>
            </a:r>
            <a:r>
              <a:rPr lang="en-US" sz="1800" b="0" i="1" dirty="0"/>
              <a:t> </a:t>
            </a:r>
            <a:r>
              <a:rPr lang="en-US" sz="1800" b="0" i="1" dirty="0" err="1"/>
              <a:t>parámetros</a:t>
            </a:r>
            <a:r>
              <a:rPr lang="en-US" sz="1800" b="0" i="1" dirty="0"/>
              <a:t>.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DEF4795-3887-7194-A267-40F57EDFE8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5C603423-076E-492B-6736-67C49EE28C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E1699C2-C625-80CD-2595-91E1B732831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AC72028-B33F-01FF-F876-135EB0061B21}"/>
              </a:ext>
            </a:extLst>
          </p:cNvPr>
          <p:cNvSpPr/>
          <p:nvPr/>
        </p:nvSpPr>
        <p:spPr>
          <a:xfrm>
            <a:off x="609441" y="1418372"/>
            <a:ext cx="11199971" cy="4846503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6D9C525-796E-EF05-0CDC-CC78BCE31034}"/>
              </a:ext>
            </a:extLst>
          </p:cNvPr>
          <p:cNvSpPr/>
          <p:nvPr/>
        </p:nvSpPr>
        <p:spPr>
          <a:xfrm>
            <a:off x="7314292" y="1420407"/>
            <a:ext cx="4495120" cy="2437032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1FCFD7-7EC6-98B4-6095-F1BC664DB0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87495"/>
            <a:ext cx="3293076" cy="468267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AA609EB-2CCA-E13A-CB1A-DFA1F1845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8984" y="1487495"/>
            <a:ext cx="3045735" cy="229923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505C106-33F2-38F1-D9BB-266F576092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658" y="3921617"/>
            <a:ext cx="5715249" cy="215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48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8F575-D27F-2B46-C580-64D4A655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2D66226-9E22-4D7C-C4D6-CA8AF1201D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MMI bend cell</a:t>
            </a:r>
            <a:br>
              <a:rPr lang="en-US" sz="2500" dirty="0"/>
            </a:br>
            <a:r>
              <a:rPr lang="en-US" sz="1800" b="0" i="1" dirty="0"/>
              <a:t>En </a:t>
            </a:r>
            <a:r>
              <a:rPr lang="en-US" sz="1800" b="0" i="1" dirty="0" err="1"/>
              <a:t>este</a:t>
            </a:r>
            <a:r>
              <a:rPr lang="en-US" sz="1800" b="0" i="1" dirty="0"/>
              <a:t> </a:t>
            </a:r>
            <a:r>
              <a:rPr lang="en-US" sz="1800" b="0" i="1" dirty="0" err="1"/>
              <a:t>bloque</a:t>
            </a:r>
            <a:r>
              <a:rPr lang="en-US" sz="1800" b="0" i="1" dirty="0"/>
              <a:t> se </a:t>
            </a:r>
            <a:r>
              <a:rPr lang="en-US" sz="1800" b="0" i="1" dirty="0" err="1"/>
              <a:t>definen</a:t>
            </a:r>
            <a:r>
              <a:rPr lang="en-US" sz="1800" b="0" i="1" dirty="0"/>
              <a:t> </a:t>
            </a:r>
            <a:r>
              <a:rPr lang="en-US" sz="1800" b="0" i="1" dirty="0" err="1"/>
              <a:t>los</a:t>
            </a:r>
            <a:r>
              <a:rPr lang="en-US" sz="1800" b="0" i="1" dirty="0"/>
              <a:t> </a:t>
            </a:r>
            <a:r>
              <a:rPr lang="en-US" sz="1800" b="0" i="1" dirty="0" err="1"/>
              <a:t>componentes</a:t>
            </a:r>
            <a:r>
              <a:rPr lang="en-US" sz="1800" b="0" i="1" dirty="0"/>
              <a:t> </a:t>
            </a:r>
            <a:r>
              <a:rPr lang="en-US" sz="1800" b="0" i="1" dirty="0" err="1"/>
              <a:t>como</a:t>
            </a:r>
            <a:r>
              <a:rPr lang="en-US" sz="1800" b="0" i="1" dirty="0"/>
              <a:t> </a:t>
            </a:r>
            <a:r>
              <a:rPr lang="en-US" sz="1800" b="0" i="1" dirty="0" err="1"/>
              <a:t>celdas</a:t>
            </a:r>
            <a:r>
              <a:rPr lang="en-US" sz="1800" b="0" i="1" dirty="0"/>
              <a:t> </a:t>
            </a:r>
            <a:r>
              <a:rPr lang="en-US" sz="1800" b="0" i="1" dirty="0" err="1"/>
              <a:t>paramétricas</a:t>
            </a:r>
            <a:r>
              <a:rPr lang="en-US" sz="1800" b="0" i="1" dirty="0"/>
              <a:t> </a:t>
            </a:r>
            <a:r>
              <a:rPr lang="en-US" sz="1800" b="0" i="1" dirty="0" err="1"/>
              <a:t>reutilizables</a:t>
            </a:r>
            <a:r>
              <a:rPr lang="en-US" sz="1800" b="0" i="1" dirty="0"/>
              <a:t> </a:t>
            </a:r>
            <a:r>
              <a:rPr lang="en-US" sz="1800" b="0" i="1" dirty="0" err="1"/>
              <a:t>mediante</a:t>
            </a:r>
            <a:r>
              <a:rPr lang="en-US" sz="1800" b="0" i="1" dirty="0"/>
              <a:t> @</a:t>
            </a:r>
            <a:r>
              <a:rPr lang="en-US" sz="1800" b="0" i="1" dirty="0" err="1"/>
              <a:t>gf.cell</a:t>
            </a:r>
            <a:r>
              <a:rPr lang="en-US" sz="1800" b="0" i="1" dirty="0"/>
              <a:t>. Nos </a:t>
            </a:r>
            <a:r>
              <a:rPr lang="en-US" sz="1800" b="0" i="1" dirty="0" err="1"/>
              <a:t>permite</a:t>
            </a:r>
            <a:r>
              <a:rPr lang="en-US" sz="1800" b="0" i="1" dirty="0"/>
              <a:t> </a:t>
            </a:r>
            <a:r>
              <a:rPr lang="en-US" sz="1800" b="0" i="1" dirty="0" err="1"/>
              <a:t>instanciar</a:t>
            </a:r>
            <a:r>
              <a:rPr lang="en-US" sz="1800" b="0" i="1" dirty="0"/>
              <a:t> </a:t>
            </a:r>
            <a:r>
              <a:rPr lang="en-US" sz="1800" b="0" i="1" dirty="0" err="1"/>
              <a:t>cada</a:t>
            </a:r>
            <a:r>
              <a:rPr lang="en-US" sz="1800" b="0" i="1" dirty="0"/>
              <a:t> </a:t>
            </a:r>
            <a:r>
              <a:rPr lang="en-US" sz="1800" b="0" i="1" dirty="0" err="1"/>
              <a:t>componente</a:t>
            </a:r>
            <a:r>
              <a:rPr lang="en-US" sz="1800" b="0" i="1" dirty="0"/>
              <a:t> </a:t>
            </a:r>
            <a:r>
              <a:rPr lang="en-US" sz="1800" b="0" i="1" dirty="0" err="1"/>
              <a:t>múltiples</a:t>
            </a:r>
            <a:r>
              <a:rPr lang="en-US" sz="1800" b="0" i="1" dirty="0"/>
              <a:t> </a:t>
            </a:r>
            <a:r>
              <a:rPr lang="en-US" sz="1800" b="0" i="1" dirty="0" err="1"/>
              <a:t>veces</a:t>
            </a:r>
            <a:r>
              <a:rPr lang="en-US" sz="1800" b="0" i="1" dirty="0"/>
              <a:t> con </a:t>
            </a:r>
            <a:r>
              <a:rPr lang="en-US" sz="1800" b="0" i="1" dirty="0" err="1"/>
              <a:t>distintos</a:t>
            </a:r>
            <a:r>
              <a:rPr lang="en-US" sz="1800" b="0" i="1" dirty="0"/>
              <a:t> </a:t>
            </a:r>
            <a:r>
              <a:rPr lang="en-US" sz="1800" b="0" i="1" dirty="0" err="1"/>
              <a:t>parámetros</a:t>
            </a:r>
            <a:r>
              <a:rPr lang="en-US" sz="1800" b="0" i="1" dirty="0"/>
              <a:t>.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1A3310B-2771-665D-BB0F-AC4C3A1434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B7DD7FE-F1AE-6D1A-FCEB-3FF4F8344B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EEF59B3-0876-19AB-F1C1-8D6B469538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11EF6BC-A3A0-A507-1951-7CD217F67ACB}"/>
              </a:ext>
            </a:extLst>
          </p:cNvPr>
          <p:cNvSpPr/>
          <p:nvPr/>
        </p:nvSpPr>
        <p:spPr>
          <a:xfrm>
            <a:off x="382588" y="1418373"/>
            <a:ext cx="7741084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6B0EA1F-2D60-A6CC-4E19-345D01378947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Component as cell code</a:t>
            </a:r>
          </a:p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6E49E5C-AB70-DFCF-0EE6-43F31B0E9BD0}"/>
              </a:ext>
            </a:extLst>
          </p:cNvPr>
          <p:cNvSpPr/>
          <p:nvPr/>
        </p:nvSpPr>
        <p:spPr>
          <a:xfrm>
            <a:off x="8350525" y="1420406"/>
            <a:ext cx="3458887" cy="271910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1AE75B-F9A4-6473-58E4-F222C43B3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22" y="1469371"/>
            <a:ext cx="3800832" cy="463672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2403087-5DB7-2621-2943-E62492A307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045" y="1467762"/>
            <a:ext cx="3250165" cy="245355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0E27123-36B6-D271-5951-51F1AB5095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855" y="2369554"/>
            <a:ext cx="4538493" cy="373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37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B5D1D-89E7-FCAE-ED12-53C1EC512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5FAA461-92DA-A8A5-0FAD-B863E88515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Ring cell</a:t>
            </a:r>
            <a:br>
              <a:rPr lang="en-US" sz="2500" dirty="0"/>
            </a:br>
            <a:r>
              <a:rPr lang="en-US" sz="1800" b="0" i="1" dirty="0"/>
              <a:t>En </a:t>
            </a:r>
            <a:r>
              <a:rPr lang="en-US" sz="1800" b="0" i="1" dirty="0" err="1"/>
              <a:t>este</a:t>
            </a:r>
            <a:r>
              <a:rPr lang="en-US" sz="1800" b="0" i="1" dirty="0"/>
              <a:t> </a:t>
            </a:r>
            <a:r>
              <a:rPr lang="en-US" sz="1800" b="0" i="1" dirty="0" err="1"/>
              <a:t>bloque</a:t>
            </a:r>
            <a:r>
              <a:rPr lang="en-US" sz="1800" b="0" i="1" dirty="0"/>
              <a:t> se </a:t>
            </a:r>
            <a:r>
              <a:rPr lang="en-US" sz="1800" b="0" i="1" dirty="0" err="1"/>
              <a:t>definen</a:t>
            </a:r>
            <a:r>
              <a:rPr lang="en-US" sz="1800" b="0" i="1" dirty="0"/>
              <a:t> </a:t>
            </a:r>
            <a:r>
              <a:rPr lang="en-US" sz="1800" b="0" i="1" dirty="0" err="1"/>
              <a:t>los</a:t>
            </a:r>
            <a:r>
              <a:rPr lang="en-US" sz="1800" b="0" i="1" dirty="0"/>
              <a:t> </a:t>
            </a:r>
            <a:r>
              <a:rPr lang="en-US" sz="1800" b="0" i="1" dirty="0" err="1"/>
              <a:t>componentes</a:t>
            </a:r>
            <a:r>
              <a:rPr lang="en-US" sz="1800" b="0" i="1" dirty="0"/>
              <a:t> </a:t>
            </a:r>
            <a:r>
              <a:rPr lang="en-US" sz="1800" b="0" i="1" dirty="0" err="1"/>
              <a:t>como</a:t>
            </a:r>
            <a:r>
              <a:rPr lang="en-US" sz="1800" b="0" i="1" dirty="0"/>
              <a:t> </a:t>
            </a:r>
            <a:r>
              <a:rPr lang="en-US" sz="1800" b="0" i="1" dirty="0" err="1"/>
              <a:t>celdas</a:t>
            </a:r>
            <a:r>
              <a:rPr lang="en-US" sz="1800" b="0" i="1" dirty="0"/>
              <a:t> </a:t>
            </a:r>
            <a:r>
              <a:rPr lang="en-US" sz="1800" b="0" i="1" dirty="0" err="1"/>
              <a:t>paramétricas</a:t>
            </a:r>
            <a:r>
              <a:rPr lang="en-US" sz="1800" b="0" i="1" dirty="0"/>
              <a:t> </a:t>
            </a:r>
            <a:r>
              <a:rPr lang="en-US" sz="1800" b="0" i="1" dirty="0" err="1"/>
              <a:t>reutilizables</a:t>
            </a:r>
            <a:r>
              <a:rPr lang="en-US" sz="1800" b="0" i="1" dirty="0"/>
              <a:t> </a:t>
            </a:r>
            <a:r>
              <a:rPr lang="en-US" sz="1800" b="0" i="1" dirty="0" err="1"/>
              <a:t>mediante</a:t>
            </a:r>
            <a:r>
              <a:rPr lang="en-US" sz="1800" b="0" i="1" dirty="0"/>
              <a:t> @</a:t>
            </a:r>
            <a:r>
              <a:rPr lang="en-US" sz="1800" b="0" i="1" dirty="0" err="1"/>
              <a:t>gf.cell</a:t>
            </a:r>
            <a:r>
              <a:rPr lang="en-US" sz="1800" b="0" i="1" dirty="0"/>
              <a:t>. Nos </a:t>
            </a:r>
            <a:r>
              <a:rPr lang="en-US" sz="1800" b="0" i="1" dirty="0" err="1"/>
              <a:t>permite</a:t>
            </a:r>
            <a:r>
              <a:rPr lang="en-US" sz="1800" b="0" i="1" dirty="0"/>
              <a:t> </a:t>
            </a:r>
            <a:r>
              <a:rPr lang="en-US" sz="1800" b="0" i="1" dirty="0" err="1"/>
              <a:t>instanciar</a:t>
            </a:r>
            <a:r>
              <a:rPr lang="en-US" sz="1800" b="0" i="1" dirty="0"/>
              <a:t> </a:t>
            </a:r>
            <a:r>
              <a:rPr lang="en-US" sz="1800" b="0" i="1" dirty="0" err="1"/>
              <a:t>cada</a:t>
            </a:r>
            <a:r>
              <a:rPr lang="en-US" sz="1800" b="0" i="1" dirty="0"/>
              <a:t> </a:t>
            </a:r>
            <a:r>
              <a:rPr lang="en-US" sz="1800" b="0" i="1" dirty="0" err="1"/>
              <a:t>componente</a:t>
            </a:r>
            <a:r>
              <a:rPr lang="en-US" sz="1800" b="0" i="1" dirty="0"/>
              <a:t> </a:t>
            </a:r>
            <a:r>
              <a:rPr lang="en-US" sz="1800" b="0" i="1" dirty="0" err="1"/>
              <a:t>múltiples</a:t>
            </a:r>
            <a:r>
              <a:rPr lang="en-US" sz="1800" b="0" i="1" dirty="0"/>
              <a:t> </a:t>
            </a:r>
            <a:r>
              <a:rPr lang="en-US" sz="1800" b="0" i="1" dirty="0" err="1"/>
              <a:t>veces</a:t>
            </a:r>
            <a:r>
              <a:rPr lang="en-US" sz="1800" b="0" i="1" dirty="0"/>
              <a:t> con </a:t>
            </a:r>
            <a:r>
              <a:rPr lang="en-US" sz="1800" b="0" i="1" dirty="0" err="1"/>
              <a:t>distintos</a:t>
            </a:r>
            <a:r>
              <a:rPr lang="en-US" sz="1800" b="0" i="1" dirty="0"/>
              <a:t> </a:t>
            </a:r>
            <a:r>
              <a:rPr lang="en-US" sz="1800" b="0" i="1" dirty="0" err="1"/>
              <a:t>parámetros</a:t>
            </a:r>
            <a:r>
              <a:rPr lang="en-US" sz="1800" b="0" i="1" dirty="0"/>
              <a:t>.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86FAC591-DCFB-CF46-C886-1AB89EE20B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7260B9C-C269-CB58-D658-946561A5C2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5FBF7CB-E385-3EBD-1AA4-1865D7B82CB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F098A8F-3A79-69B8-B40B-45F4D48C5E66}"/>
              </a:ext>
            </a:extLst>
          </p:cNvPr>
          <p:cNvSpPr/>
          <p:nvPr/>
        </p:nvSpPr>
        <p:spPr>
          <a:xfrm>
            <a:off x="609441" y="1418372"/>
            <a:ext cx="5332571" cy="4936075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C032477-A8EF-88B3-A788-84825619FBE7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Component as cell code</a:t>
            </a:r>
          </a:p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33B61D2-1A12-2775-652D-19FFE7D3D4B4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92F913-F9C2-1E1B-BC2A-E8A358678448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Component</a:t>
            </a:r>
            <a:r>
              <a:rPr lang="es-ES"/>
              <a:t> as </a:t>
            </a:r>
            <a:r>
              <a:rPr lang="es-ES" err="1"/>
              <a:t>cell</a:t>
            </a:r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D7692D4-9B6F-024D-335F-F84A4C5B2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326" y="1791849"/>
            <a:ext cx="5181600" cy="39116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8371924-373C-836F-2DAD-17B911D8D9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30" y="1447751"/>
            <a:ext cx="4259735" cy="491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10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123AC-B087-3E5E-5E33-744A9A443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A36A8C72-DA2B-D216-59DF-99AD68436B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MZI cell</a:t>
            </a:r>
            <a:br>
              <a:rPr lang="en-US" sz="2500" dirty="0"/>
            </a:br>
            <a:r>
              <a:rPr lang="en-US" sz="1800" b="0" i="1" dirty="0"/>
              <a:t>En </a:t>
            </a:r>
            <a:r>
              <a:rPr lang="en-US" sz="1800" b="0" i="1" dirty="0" err="1"/>
              <a:t>este</a:t>
            </a:r>
            <a:r>
              <a:rPr lang="en-US" sz="1800" b="0" i="1" dirty="0"/>
              <a:t> </a:t>
            </a:r>
            <a:r>
              <a:rPr lang="en-US" sz="1800" b="0" i="1" dirty="0" err="1"/>
              <a:t>bloque</a:t>
            </a:r>
            <a:r>
              <a:rPr lang="en-US" sz="1800" b="0" i="1" dirty="0"/>
              <a:t> se </a:t>
            </a:r>
            <a:r>
              <a:rPr lang="en-US" sz="1800" b="0" i="1" dirty="0" err="1"/>
              <a:t>definen</a:t>
            </a:r>
            <a:r>
              <a:rPr lang="en-US" sz="1800" b="0" i="1" dirty="0"/>
              <a:t> </a:t>
            </a:r>
            <a:r>
              <a:rPr lang="en-US" sz="1800" b="0" i="1" dirty="0" err="1"/>
              <a:t>los</a:t>
            </a:r>
            <a:r>
              <a:rPr lang="en-US" sz="1800" b="0" i="1" dirty="0"/>
              <a:t> </a:t>
            </a:r>
            <a:r>
              <a:rPr lang="en-US" sz="1800" b="0" i="1" dirty="0" err="1"/>
              <a:t>componentes</a:t>
            </a:r>
            <a:r>
              <a:rPr lang="en-US" sz="1800" b="0" i="1" dirty="0"/>
              <a:t> </a:t>
            </a:r>
            <a:r>
              <a:rPr lang="en-US" sz="1800" b="0" i="1" dirty="0" err="1"/>
              <a:t>como</a:t>
            </a:r>
            <a:r>
              <a:rPr lang="en-US" sz="1800" b="0" i="1" dirty="0"/>
              <a:t> </a:t>
            </a:r>
            <a:r>
              <a:rPr lang="en-US" sz="1800" b="0" i="1" dirty="0" err="1"/>
              <a:t>celdas</a:t>
            </a:r>
            <a:r>
              <a:rPr lang="en-US" sz="1800" b="0" i="1" dirty="0"/>
              <a:t> </a:t>
            </a:r>
            <a:r>
              <a:rPr lang="en-US" sz="1800" b="0" i="1" dirty="0" err="1"/>
              <a:t>paramétricas</a:t>
            </a:r>
            <a:r>
              <a:rPr lang="en-US" sz="1800" b="0" i="1" dirty="0"/>
              <a:t> </a:t>
            </a:r>
            <a:r>
              <a:rPr lang="en-US" sz="1800" b="0" i="1" dirty="0" err="1"/>
              <a:t>reutilizables</a:t>
            </a:r>
            <a:r>
              <a:rPr lang="en-US" sz="1800" b="0" i="1" dirty="0"/>
              <a:t> </a:t>
            </a:r>
            <a:r>
              <a:rPr lang="en-US" sz="1800" b="0" i="1" dirty="0" err="1"/>
              <a:t>mediante</a:t>
            </a:r>
            <a:r>
              <a:rPr lang="en-US" sz="1800" b="0" i="1" dirty="0"/>
              <a:t> @</a:t>
            </a:r>
            <a:r>
              <a:rPr lang="en-US" sz="1800" b="0" i="1" dirty="0" err="1"/>
              <a:t>gf.cell</a:t>
            </a:r>
            <a:r>
              <a:rPr lang="en-US" sz="1800" b="0" i="1" dirty="0"/>
              <a:t>. Nos </a:t>
            </a:r>
            <a:r>
              <a:rPr lang="en-US" sz="1800" b="0" i="1" dirty="0" err="1"/>
              <a:t>permite</a:t>
            </a:r>
            <a:r>
              <a:rPr lang="en-US" sz="1800" b="0" i="1" dirty="0"/>
              <a:t> </a:t>
            </a:r>
            <a:r>
              <a:rPr lang="en-US" sz="1800" b="0" i="1" dirty="0" err="1"/>
              <a:t>instanciar</a:t>
            </a:r>
            <a:r>
              <a:rPr lang="en-US" sz="1800" b="0" i="1" dirty="0"/>
              <a:t> </a:t>
            </a:r>
            <a:r>
              <a:rPr lang="en-US" sz="1800" b="0" i="1" dirty="0" err="1"/>
              <a:t>cada</a:t>
            </a:r>
            <a:r>
              <a:rPr lang="en-US" sz="1800" b="0" i="1" dirty="0"/>
              <a:t> </a:t>
            </a:r>
            <a:r>
              <a:rPr lang="en-US" sz="1800" b="0" i="1" dirty="0" err="1"/>
              <a:t>componente</a:t>
            </a:r>
            <a:r>
              <a:rPr lang="en-US" sz="1800" b="0" i="1" dirty="0"/>
              <a:t> </a:t>
            </a:r>
            <a:r>
              <a:rPr lang="en-US" sz="1800" b="0" i="1" dirty="0" err="1"/>
              <a:t>múltiples</a:t>
            </a:r>
            <a:r>
              <a:rPr lang="en-US" sz="1800" b="0" i="1" dirty="0"/>
              <a:t> </a:t>
            </a:r>
            <a:r>
              <a:rPr lang="en-US" sz="1800" b="0" i="1" dirty="0" err="1"/>
              <a:t>veces</a:t>
            </a:r>
            <a:r>
              <a:rPr lang="en-US" sz="1800" b="0" i="1" dirty="0"/>
              <a:t> con </a:t>
            </a:r>
            <a:r>
              <a:rPr lang="en-US" sz="1800" b="0" i="1" dirty="0" err="1"/>
              <a:t>distintos</a:t>
            </a:r>
            <a:r>
              <a:rPr lang="en-US" sz="1800" b="0" i="1" dirty="0"/>
              <a:t> </a:t>
            </a:r>
            <a:r>
              <a:rPr lang="en-US" sz="1800" b="0" i="1" dirty="0" err="1"/>
              <a:t>parámetros</a:t>
            </a:r>
            <a:r>
              <a:rPr lang="en-US" sz="1800" b="0" i="1" dirty="0"/>
              <a:t>.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FD7A771A-47B8-5CE0-22ED-04CBCA0630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61E1FD4-D168-A9A0-565E-5330AA63F4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2834C06-84F4-86F8-6947-2B743CD421A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0EDCCE-5A59-A92D-B80B-D423563DA943}"/>
              </a:ext>
            </a:extLst>
          </p:cNvPr>
          <p:cNvSpPr/>
          <p:nvPr/>
        </p:nvSpPr>
        <p:spPr>
          <a:xfrm>
            <a:off x="609441" y="1418372"/>
            <a:ext cx="5332571" cy="4936075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481642-13F6-A226-0D13-1B1D95D80C58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Component as cell code</a:t>
            </a:r>
          </a:p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6506862-7B21-FA36-A150-C531122A8373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6F34607-7C3A-F1C0-A9D6-50694598F321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Component</a:t>
            </a:r>
            <a:r>
              <a:rPr lang="es-ES"/>
              <a:t> as </a:t>
            </a:r>
            <a:r>
              <a:rPr lang="es-ES" err="1"/>
              <a:t>cell</a:t>
            </a:r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4F50E9B-D833-2453-3615-039AB41D2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326" y="1720335"/>
            <a:ext cx="5181600" cy="39116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27340F7-5405-6FF5-49F2-A3AC9C87B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42" y="1467338"/>
            <a:ext cx="5071168" cy="473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52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3B43D-C62D-E574-CCDA-36A6E6E1C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16FC0AE-471C-8ACC-244F-AFEA796FF7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MZI unbalanced cell</a:t>
            </a:r>
            <a:br>
              <a:rPr lang="en-US" sz="2500" dirty="0"/>
            </a:br>
            <a:r>
              <a:rPr lang="en-US" sz="1800" b="0" i="1" dirty="0"/>
              <a:t>En </a:t>
            </a:r>
            <a:r>
              <a:rPr lang="en-US" sz="1800" b="0" i="1" dirty="0" err="1"/>
              <a:t>este</a:t>
            </a:r>
            <a:r>
              <a:rPr lang="en-US" sz="1800" b="0" i="1" dirty="0"/>
              <a:t> </a:t>
            </a:r>
            <a:r>
              <a:rPr lang="en-US" sz="1800" b="0" i="1" dirty="0" err="1"/>
              <a:t>bloque</a:t>
            </a:r>
            <a:r>
              <a:rPr lang="en-US" sz="1800" b="0" i="1" dirty="0"/>
              <a:t> se </a:t>
            </a:r>
            <a:r>
              <a:rPr lang="en-US" sz="1800" b="0" i="1" dirty="0" err="1"/>
              <a:t>definen</a:t>
            </a:r>
            <a:r>
              <a:rPr lang="en-US" sz="1800" b="0" i="1" dirty="0"/>
              <a:t> </a:t>
            </a:r>
            <a:r>
              <a:rPr lang="en-US" sz="1800" b="0" i="1" dirty="0" err="1"/>
              <a:t>los</a:t>
            </a:r>
            <a:r>
              <a:rPr lang="en-US" sz="1800" b="0" i="1" dirty="0"/>
              <a:t> </a:t>
            </a:r>
            <a:r>
              <a:rPr lang="en-US" sz="1800" b="0" i="1" dirty="0" err="1"/>
              <a:t>componentes</a:t>
            </a:r>
            <a:r>
              <a:rPr lang="en-US" sz="1800" b="0" i="1" dirty="0"/>
              <a:t> </a:t>
            </a:r>
            <a:r>
              <a:rPr lang="en-US" sz="1800" b="0" i="1" dirty="0" err="1"/>
              <a:t>como</a:t>
            </a:r>
            <a:r>
              <a:rPr lang="en-US" sz="1800" b="0" i="1" dirty="0"/>
              <a:t> </a:t>
            </a:r>
            <a:r>
              <a:rPr lang="en-US" sz="1800" b="0" i="1" dirty="0" err="1"/>
              <a:t>celdas</a:t>
            </a:r>
            <a:r>
              <a:rPr lang="en-US" sz="1800" b="0" i="1" dirty="0"/>
              <a:t> </a:t>
            </a:r>
            <a:r>
              <a:rPr lang="en-US" sz="1800" b="0" i="1" dirty="0" err="1"/>
              <a:t>paramétricas</a:t>
            </a:r>
            <a:r>
              <a:rPr lang="en-US" sz="1800" b="0" i="1" dirty="0"/>
              <a:t> </a:t>
            </a:r>
            <a:r>
              <a:rPr lang="en-US" sz="1800" b="0" i="1" dirty="0" err="1"/>
              <a:t>reutilizables</a:t>
            </a:r>
            <a:r>
              <a:rPr lang="en-US" sz="1800" b="0" i="1" dirty="0"/>
              <a:t> </a:t>
            </a:r>
            <a:r>
              <a:rPr lang="en-US" sz="1800" b="0" i="1" dirty="0" err="1"/>
              <a:t>mediante</a:t>
            </a:r>
            <a:r>
              <a:rPr lang="en-US" sz="1800" b="0" i="1" dirty="0"/>
              <a:t> @</a:t>
            </a:r>
            <a:r>
              <a:rPr lang="en-US" sz="1800" b="0" i="1" dirty="0" err="1"/>
              <a:t>gf.cell</a:t>
            </a:r>
            <a:r>
              <a:rPr lang="en-US" sz="1800" b="0" i="1" dirty="0"/>
              <a:t>. Nos </a:t>
            </a:r>
            <a:r>
              <a:rPr lang="en-US" sz="1800" b="0" i="1" dirty="0" err="1"/>
              <a:t>permite</a:t>
            </a:r>
            <a:r>
              <a:rPr lang="en-US" sz="1800" b="0" i="1" dirty="0"/>
              <a:t> </a:t>
            </a:r>
            <a:r>
              <a:rPr lang="en-US" sz="1800" b="0" i="1" dirty="0" err="1"/>
              <a:t>instanciar</a:t>
            </a:r>
            <a:r>
              <a:rPr lang="en-US" sz="1800" b="0" i="1" dirty="0"/>
              <a:t> </a:t>
            </a:r>
            <a:r>
              <a:rPr lang="en-US" sz="1800" b="0" i="1" dirty="0" err="1"/>
              <a:t>cada</a:t>
            </a:r>
            <a:r>
              <a:rPr lang="en-US" sz="1800" b="0" i="1" dirty="0"/>
              <a:t> </a:t>
            </a:r>
            <a:r>
              <a:rPr lang="en-US" sz="1800" b="0" i="1" dirty="0" err="1"/>
              <a:t>componente</a:t>
            </a:r>
            <a:r>
              <a:rPr lang="en-US" sz="1800" b="0" i="1" dirty="0"/>
              <a:t> </a:t>
            </a:r>
            <a:r>
              <a:rPr lang="en-US" sz="1800" b="0" i="1" dirty="0" err="1"/>
              <a:t>múltiples</a:t>
            </a:r>
            <a:r>
              <a:rPr lang="en-US" sz="1800" b="0" i="1" dirty="0"/>
              <a:t> </a:t>
            </a:r>
            <a:r>
              <a:rPr lang="en-US" sz="1800" b="0" i="1" dirty="0" err="1"/>
              <a:t>veces</a:t>
            </a:r>
            <a:r>
              <a:rPr lang="en-US" sz="1800" b="0" i="1" dirty="0"/>
              <a:t> con </a:t>
            </a:r>
            <a:r>
              <a:rPr lang="en-US" sz="1800" b="0" i="1" dirty="0" err="1"/>
              <a:t>distintos</a:t>
            </a:r>
            <a:r>
              <a:rPr lang="en-US" sz="1800" b="0" i="1" dirty="0"/>
              <a:t> </a:t>
            </a:r>
            <a:r>
              <a:rPr lang="en-US" sz="1800" b="0" i="1" dirty="0" err="1"/>
              <a:t>parámetros</a:t>
            </a:r>
            <a:r>
              <a:rPr lang="en-US" sz="1800" b="0" i="1" dirty="0"/>
              <a:t>.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5C22D98-17C5-4F00-EC44-7D38C87B45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563D53A5-74E7-2B60-1C1D-2C3968D520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3E3DDC-BD34-2008-CFC4-DC89BFBE330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005405-4D42-E94D-E498-7CAF105A9C4D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10541B0-E048-AFBD-2810-10D4C66633B3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Component as cell code</a:t>
            </a:r>
          </a:p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338019A-F4BE-6AC3-D79B-8B7686936F84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1FBC558-BCA8-5450-76CF-560B70615EC5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Component</a:t>
            </a:r>
            <a:r>
              <a:rPr lang="es-ES"/>
              <a:t> as </a:t>
            </a:r>
            <a:r>
              <a:rPr lang="es-ES" err="1"/>
              <a:t>cell</a:t>
            </a:r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576325C-0371-F9BA-1908-6998A804B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870" y="1853538"/>
            <a:ext cx="4747711" cy="358405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8740303-7570-8466-BF5B-28AF55B464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19" y="1765359"/>
            <a:ext cx="4987140" cy="372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10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E3877-C806-0F21-82D2-4259FD4D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1C7BC27-0620-9901-272F-4E6C76CB7A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/>
              <a:t>Learning outcome #3 – Notebook section 3. Complete layout</a:t>
            </a:r>
            <a:endParaRPr sz="2500" b="0" i="1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B90E2BE-62AF-4BAE-AEB8-34FED2E08F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0C13B11-A4CD-B420-9C42-1F5041570F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367C21A-051B-64A7-790F-F1DFD12F58E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C0A14DF-373B-3A5E-9825-3BA9155DEE54}"/>
              </a:ext>
            </a:extLst>
          </p:cNvPr>
          <p:cNvSpPr txBox="1"/>
          <p:nvPr/>
        </p:nvSpPr>
        <p:spPr>
          <a:xfrm>
            <a:off x="511791" y="990600"/>
            <a:ext cx="6262788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Read and describe 4 code blocks in section 3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1: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B70AAA9-6BD6-FC33-3C28-15C9148FE265}"/>
              </a:ext>
            </a:extLst>
          </p:cNvPr>
          <p:cNvSpPr/>
          <p:nvPr/>
        </p:nvSpPr>
        <p:spPr>
          <a:xfrm>
            <a:off x="6981568" y="990285"/>
            <a:ext cx="4905631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2D5648-CF77-8187-5B0F-C400DFA16DF8}"/>
              </a:ext>
            </a:extLst>
          </p:cNvPr>
          <p:cNvSpPr txBox="1"/>
          <p:nvPr/>
        </p:nvSpPr>
        <p:spPr>
          <a:xfrm>
            <a:off x="7663860" y="3105834"/>
            <a:ext cx="280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Complete </a:t>
            </a:r>
            <a:r>
              <a:rPr lang="es-ES" err="1"/>
              <a:t>layout</a:t>
            </a:r>
            <a:r>
              <a:rPr lang="es-ES"/>
              <a:t> </a:t>
            </a:r>
            <a:r>
              <a:rPr lang="es-ES" err="1"/>
              <a:t>screenshot</a:t>
            </a:r>
            <a:endParaRPr lang="es-ES"/>
          </a:p>
          <a:p>
            <a:pPr algn="ctr"/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2AAE72-306E-06D2-5209-E521C2A4B4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29557"/>
            <a:ext cx="6042658" cy="295627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13C89C7-196B-0072-1EAA-C941AE397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6982" y="1552851"/>
            <a:ext cx="4563228" cy="344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69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33729-0D99-5D85-A4E8-157CF6C00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82B2A16D-6B66-A2AF-E284-C61E2D4E8C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/>
              <a:t>Learning outcome #3 – Notebook section 3. Complete layout</a:t>
            </a:r>
            <a:endParaRPr sz="2500" b="0" i="1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BE17AAE-BF58-4C84-0A5B-D263EF8A37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6697461-DD4B-A59F-68DD-2ACE4CDF06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B8E916-F658-7C86-4859-FFB2D8B558C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B41BE03-560B-F33D-DD38-DB5358B27D52}"/>
              </a:ext>
            </a:extLst>
          </p:cNvPr>
          <p:cNvSpPr txBox="1"/>
          <p:nvPr/>
        </p:nvSpPr>
        <p:spPr>
          <a:xfrm>
            <a:off x="457201" y="990600"/>
            <a:ext cx="6663367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Read and describe 4 code blocks in section 3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2: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12D190A-8553-6BD4-D4DB-2CB46B3E3A69}"/>
              </a:ext>
            </a:extLst>
          </p:cNvPr>
          <p:cNvSpPr/>
          <p:nvPr/>
        </p:nvSpPr>
        <p:spPr>
          <a:xfrm>
            <a:off x="7327557" y="990285"/>
            <a:ext cx="4559642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E7C949-E1DA-F716-DCB6-12F6DC933E91}"/>
              </a:ext>
            </a:extLst>
          </p:cNvPr>
          <p:cNvSpPr txBox="1"/>
          <p:nvPr/>
        </p:nvSpPr>
        <p:spPr>
          <a:xfrm>
            <a:off x="7663860" y="3105834"/>
            <a:ext cx="280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Complete </a:t>
            </a:r>
            <a:r>
              <a:rPr lang="es-ES" err="1"/>
              <a:t>layout</a:t>
            </a:r>
            <a:r>
              <a:rPr lang="es-ES"/>
              <a:t> </a:t>
            </a:r>
            <a:r>
              <a:rPr lang="es-ES" err="1"/>
              <a:t>screenshot</a:t>
            </a:r>
            <a:endParaRPr lang="es-ES"/>
          </a:p>
          <a:p>
            <a:pPr algn="ctr"/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8770CFC-2931-1B96-D789-6934DD780F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45" y="1736926"/>
            <a:ext cx="6311296" cy="296152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93ACD47-6ADC-F1BE-12FE-3F15F72B8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580" y="1644692"/>
            <a:ext cx="4197630" cy="316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36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9ABC1-50C5-84D2-20E9-381D6D821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8532B38B-707E-95BB-CABE-6310ED0AA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/>
              <a:t>Learning outcome #3 – Notebook section 3. Complete layout</a:t>
            </a:r>
            <a:endParaRPr sz="2500" b="0" i="1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BC68DCA-CA55-A18C-4178-FB8359DCB6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83829606-B88C-E9D6-C066-1A62A6EC0E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056C57-BD56-8953-3FA1-AD61D9AAF09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3B5D32F-0B5D-3057-B702-F5AA797D8964}"/>
              </a:ext>
            </a:extLst>
          </p:cNvPr>
          <p:cNvSpPr txBox="1"/>
          <p:nvPr/>
        </p:nvSpPr>
        <p:spPr>
          <a:xfrm>
            <a:off x="457201" y="990600"/>
            <a:ext cx="5638799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Read and describe 4 code blocks in section 3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3: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13798FD-6B17-1A7A-B5C2-62D91A26E0AA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8E2DD6D-3E6F-FC3B-EB6D-E20E543F9AEF}"/>
              </a:ext>
            </a:extLst>
          </p:cNvPr>
          <p:cNvSpPr txBox="1"/>
          <p:nvPr/>
        </p:nvSpPr>
        <p:spPr>
          <a:xfrm>
            <a:off x="7663860" y="3105834"/>
            <a:ext cx="280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Complete </a:t>
            </a:r>
            <a:r>
              <a:rPr lang="es-ES" err="1"/>
              <a:t>layout</a:t>
            </a:r>
            <a:r>
              <a:rPr lang="es-ES"/>
              <a:t> </a:t>
            </a:r>
            <a:r>
              <a:rPr lang="es-ES" err="1"/>
              <a:t>screenshot</a:t>
            </a:r>
            <a:endParaRPr lang="es-ES"/>
          </a:p>
          <a:p>
            <a:pPr algn="ctr"/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605565-57C3-ABDC-7A75-97600C516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66419"/>
            <a:ext cx="5171303" cy="332217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21BC976-0E78-CFCF-6948-CE1A3D50C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999" y="1473199"/>
            <a:ext cx="51816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07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50CC7-9D38-C197-4653-081CD4481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B4062D90-977C-0A30-54EC-2306D93B2C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/>
              <a:t>Learning outcome #3 – Notebook section 3. Complete layout</a:t>
            </a:r>
            <a:endParaRPr sz="2500" b="0" i="1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8E02A62D-CABF-70BD-301B-8C858210C2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AD05382-EB0C-ED28-1DF0-51956B786F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774515-E5B0-E0E9-A7AD-50266EBC173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C4E87C3-F7FC-B23F-1C9B-5D272854A7E8}"/>
              </a:ext>
            </a:extLst>
          </p:cNvPr>
          <p:cNvSpPr txBox="1"/>
          <p:nvPr/>
        </p:nvSpPr>
        <p:spPr>
          <a:xfrm>
            <a:off x="685799" y="990600"/>
            <a:ext cx="5801497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Read and describe 4 code blocks in section 3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4: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E455CB0-86A4-F028-B479-1B078BA073DF}"/>
              </a:ext>
            </a:extLst>
          </p:cNvPr>
          <p:cNvSpPr/>
          <p:nvPr/>
        </p:nvSpPr>
        <p:spPr>
          <a:xfrm>
            <a:off x="6685006" y="990285"/>
            <a:ext cx="5202194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12C5A71-C28A-3AA7-581A-582B164B3E42}"/>
              </a:ext>
            </a:extLst>
          </p:cNvPr>
          <p:cNvSpPr txBox="1"/>
          <p:nvPr/>
        </p:nvSpPr>
        <p:spPr>
          <a:xfrm>
            <a:off x="7663860" y="3105834"/>
            <a:ext cx="280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/>
              <a:t>Complete </a:t>
            </a:r>
            <a:r>
              <a:rPr lang="es-ES" err="1"/>
              <a:t>layout</a:t>
            </a:r>
            <a:r>
              <a:rPr lang="es-ES"/>
              <a:t> </a:t>
            </a:r>
            <a:r>
              <a:rPr lang="es-ES" err="1"/>
              <a:t>screenshot</a:t>
            </a:r>
            <a:endParaRPr lang="es-ES"/>
          </a:p>
          <a:p>
            <a:pPr algn="ctr"/>
            <a:r>
              <a:rPr lang="es-ES"/>
              <a:t> </a:t>
            </a:r>
            <a:r>
              <a:rPr lang="es-ES" err="1"/>
              <a:t>screenshot</a:t>
            </a:r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6740E6-6650-8B41-A298-C182E508B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60" y="2014805"/>
            <a:ext cx="5395840" cy="347472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0586679-AD3B-3BEB-845F-1BBD07BD1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4524" y="1740106"/>
            <a:ext cx="4874232" cy="367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386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80C3D-F3AC-349C-98B3-B4332136F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2DD4786C-A678-1043-E7EA-DD99FA816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799" y="408883"/>
            <a:ext cx="11201399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2500" dirty="0"/>
              <a:t>Learning outcome #4 – Notebook section 4. Exercises – Part a) Creating components</a:t>
            </a:r>
            <a:br>
              <a:rPr lang="en-US" sz="2500" dirty="0"/>
            </a:b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7FD148DF-F8E3-DA8B-143B-942A32497C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D3AB9BF0-398C-48C2-F9B7-2E0B82C70BE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4CA8D00-A3DD-C6D4-BB52-9226AFF4EAB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731381B-C0B4-D430-BD63-748990A301A4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 …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for a unbalanced MZI, using 2x2 50:50 MMIs with arm length difference as parameter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91C7E4A-4E4E-EF83-8ABF-8FEDAC347CC5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25786EF-4863-9D2C-81F5-113AD463ECAF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Screenshot</a:t>
            </a:r>
            <a:r>
              <a:rPr lang="es-ES"/>
              <a:t> </a:t>
            </a:r>
            <a:r>
              <a:rPr lang="es-ES" err="1"/>
              <a:t>for</a:t>
            </a:r>
            <a:r>
              <a:rPr lang="es-ES"/>
              <a:t> …</a:t>
            </a:r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FF11D0-5A1E-03D1-1D64-03D84616F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911035"/>
            <a:ext cx="4724400" cy="33401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CCACCE9-B50C-DECD-C7D0-7F638CC95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1" y="1375005"/>
            <a:ext cx="51816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041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E4C8-9334-5513-FF1F-33D853313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E1AF5DE-7DDA-6BD6-356B-BC8C6D64E8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799" y="408883"/>
            <a:ext cx="11201399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2500" dirty="0"/>
              <a:t>Learning outcome #4 – Notebook section 4. Exercises – Part a) Creating components</a:t>
            </a:r>
            <a:br>
              <a:rPr lang="en-US" sz="2500" dirty="0"/>
            </a:b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D49E74B-1AD5-7FC5-2E12-D96B4495D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FF85DB7-C4BC-5D3A-851B-B69459544C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8D62CE-B626-2C40-8F1B-BEF772400C8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930ACA5-E550-020E-CD01-1246D0F766EE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 …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the previous, where the arms have thermal tuners on top of each one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9FD1AFB-531D-5964-3C9C-F7BC2471B801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00A5C1-FDE5-681F-50A7-3ACBBDDCC513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Screenshot</a:t>
            </a:r>
            <a:r>
              <a:rPr lang="es-ES"/>
              <a:t> </a:t>
            </a:r>
            <a:r>
              <a:rPr lang="es-ES" err="1"/>
              <a:t>for</a:t>
            </a:r>
            <a:r>
              <a:rPr lang="es-ES"/>
              <a:t> …</a:t>
            </a:r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4B029A9-1C44-804E-777F-FDE379102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16" y="2131310"/>
            <a:ext cx="4517768" cy="337108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EBDC56F-1F7D-DA60-AF28-0BF5613CB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216" y="1473200"/>
            <a:ext cx="51816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06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57862-B72D-38A4-B136-5A523D47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A982B524-A363-4A94-6B1C-E813954DE1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799" y="408883"/>
            <a:ext cx="11201399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2500" dirty="0"/>
              <a:t>Learning outcome #4 – Notebook section 4. Exercises – Part a) Creating components</a:t>
            </a:r>
            <a:br>
              <a:rPr lang="en-US" sz="2500" dirty="0"/>
            </a:b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F779D1A5-F164-9720-79FB-54D739303A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AF27B57D-DDA3-326C-632A-F8FE3AB643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FB6E0F6-D0D5-2D3B-5DCB-81BB6DEC91D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185DF12-74AA-7ECC-0023-A9CE377404BE}"/>
              </a:ext>
            </a:extLst>
          </p:cNvPr>
          <p:cNvSpPr txBox="1"/>
          <p:nvPr/>
        </p:nvSpPr>
        <p:spPr>
          <a:xfrm>
            <a:off x="685800" y="990600"/>
            <a:ext cx="5410200" cy="538734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 …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for an all-pass ring resonator, using 2x2 50:50 MMIs, with extra length parameter for different perimeters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F0222CF-2FD2-3EE6-C923-C1B88EAE10B1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6F51CA9-3E1C-8B2A-8B4F-500C1AB48A69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Screenshot</a:t>
            </a:r>
            <a:r>
              <a:rPr lang="es-ES"/>
              <a:t> </a:t>
            </a:r>
            <a:r>
              <a:rPr lang="es-ES" err="1"/>
              <a:t>for</a:t>
            </a:r>
            <a:r>
              <a:rPr lang="es-ES"/>
              <a:t> …</a:t>
            </a:r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E590C71-C668-2099-7CA7-F103C30DF9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044" y="1605090"/>
            <a:ext cx="4328577" cy="473910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AB6465C-D05C-093A-E687-E39CBFE4C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244" y="1519366"/>
            <a:ext cx="51816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44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81C10-1012-3B77-90B1-375D8DDB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967114AB-E2D2-9764-D664-62EECFBBD0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799" y="408883"/>
            <a:ext cx="11201399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2500" dirty="0"/>
              <a:t>Learning outcome #4 – Notebook section 4. Exercises – Part a) Creating components</a:t>
            </a:r>
            <a:br>
              <a:rPr lang="en-US" sz="2500" dirty="0"/>
            </a:b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249AC47-F57E-7EF4-C0D0-BB0993FD2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DB81EDD1-85E5-2458-010B-5CC2E867EF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0082746-1205-6868-D34B-FEC234C1B48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7D54ED1-B273-53A3-E25C-141B4C1B3337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 …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the previous, where the ring has a thermal tuner on top along all the perimeter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8D44154-465E-07FB-8505-ED58282BAC24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D8BBAB7-3B96-F4FB-6A69-5CD84F1EB8D9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Screenshot</a:t>
            </a:r>
            <a:r>
              <a:rPr lang="es-ES"/>
              <a:t> </a:t>
            </a:r>
            <a:r>
              <a:rPr lang="es-ES" err="1"/>
              <a:t>for</a:t>
            </a:r>
            <a:r>
              <a:rPr lang="es-ES"/>
              <a:t> …</a:t>
            </a:r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97C1A8-6C06-A8AF-9144-45F89DA0FB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50" y="1924050"/>
            <a:ext cx="4787900" cy="30099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C3F444C-01EB-1A16-D54C-F626EB6BA2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789" y="1473200"/>
            <a:ext cx="51816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55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1E63-1825-F41E-8FF0-6AF5A5F5A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4D53EE1-00F8-F2E4-69BA-A44FD0E64D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799" y="408883"/>
            <a:ext cx="11201399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2500" dirty="0"/>
              <a:t>Learning outcome #4 – Notebook section 4. Exercises – Part a) Creating components</a:t>
            </a:r>
            <a:br>
              <a:rPr lang="en-US" sz="2500" dirty="0"/>
            </a:b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B49289-79F9-8EB3-3753-F8DDD669D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6598A7E-A239-58D2-F1AB-D6E09A7CE5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21F504D-3EAC-25A4-F350-9FF8D4BF5D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52EB805-65F3-194B-C8F4-CA690A8BA9F7}"/>
              </a:ext>
            </a:extLst>
          </p:cNvPr>
          <p:cNvSpPr txBox="1"/>
          <p:nvPr/>
        </p:nvSpPr>
        <p:spPr>
          <a:xfrm>
            <a:off x="685800" y="990600"/>
            <a:ext cx="11201398" cy="232082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 …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existing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GDSfactory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spiral components, with length as parameter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2B60D58-C055-6503-3D14-DA4E7E01A3FF}"/>
              </a:ext>
            </a:extLst>
          </p:cNvPr>
          <p:cNvSpPr/>
          <p:nvPr/>
        </p:nvSpPr>
        <p:spPr>
          <a:xfrm>
            <a:off x="685798" y="3685002"/>
            <a:ext cx="11201398" cy="2577709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E0C635E-2A72-95A1-311C-FF55A29F0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76" y="1564727"/>
            <a:ext cx="8849449" cy="154110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D7E9306-FAC9-07E9-5701-4543A38086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260" b="25517"/>
          <a:stretch>
            <a:fillRect/>
          </a:stretch>
        </p:blipFill>
        <p:spPr>
          <a:xfrm>
            <a:off x="2738978" y="3793971"/>
            <a:ext cx="6207313" cy="225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80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787F0-CB2C-2FE5-5614-A0F16A62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02B708D-0704-5977-EC6F-88CF05CBB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799" y="408883"/>
            <a:ext cx="1120139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2500" dirty="0"/>
              <a:t>Learning outcome #4 – Notebook section 4. Exercises –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Part b) Creating die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5386122-0096-23D3-AB3A-550FBF0A3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13FD8D6-DEAF-544C-DE8A-FEED1CFD25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B40145-CD7B-EB6E-E37D-B6E973BB91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D55FC-5031-5DAE-893E-BF1355747932}"/>
              </a:ext>
            </a:extLst>
          </p:cNvPr>
          <p:cNvSpPr txBox="1"/>
          <p:nvPr/>
        </p:nvSpPr>
        <p:spPr>
          <a:xfrm>
            <a:off x="685800" y="990600"/>
            <a:ext cx="737446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 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die  W = 5 mm x L = 10 mm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F15AC0-F440-2DF1-6C9D-0A7E2EAFC2C8}"/>
              </a:ext>
            </a:extLst>
          </p:cNvPr>
          <p:cNvSpPr/>
          <p:nvPr/>
        </p:nvSpPr>
        <p:spPr>
          <a:xfrm>
            <a:off x="8180318" y="990285"/>
            <a:ext cx="3706881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248EFD-19EE-95CC-AC89-5D89542724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26" y="1717589"/>
            <a:ext cx="7251078" cy="319868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E4AC0B4-0BBB-7BD6-462A-C8B63A55D3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491" r="15453"/>
          <a:stretch>
            <a:fillRect/>
          </a:stretch>
        </p:blipFill>
        <p:spPr>
          <a:xfrm>
            <a:off x="8253935" y="1473200"/>
            <a:ext cx="3513206" cy="412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38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E957-23B2-3EF8-3140-A24D6B5F7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D1F668C-4DD7-9F55-3473-586CB536C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799" y="408883"/>
            <a:ext cx="1120139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2500" dirty="0"/>
              <a:t>Learning outcome #4 – Notebook section 4. Exercises –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Part b) Creating die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83A5B6AF-2007-AD7C-9F1A-EA3B3E3C75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2E59192-4A6C-3454-297B-A348754447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1A79F7-02EC-CAF5-BB80-7846971C5DF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0ACE0A-BAE8-D87B-0C19-A3D05BF766BE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 …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an array of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spaced at 250 µm (as much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as the width allows)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8512FDC-2BD5-BEBD-B893-F2490F67D757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DB6E076-C915-0022-FC88-6EDBAD20E3DF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Screenshot</a:t>
            </a:r>
            <a:r>
              <a:rPr lang="es-ES"/>
              <a:t> </a:t>
            </a:r>
            <a:r>
              <a:rPr lang="es-ES" err="1"/>
              <a:t>for</a:t>
            </a:r>
            <a:r>
              <a:rPr lang="es-ES"/>
              <a:t> …</a:t>
            </a:r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AA8135-C67E-551C-F3C6-7EE0F7B6CC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35" y="1957516"/>
            <a:ext cx="5102040" cy="333166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6A5D404-C6D1-5A7B-845C-581A687B6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999" y="1473200"/>
            <a:ext cx="51816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2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B6F34-3FA3-D2CB-CA88-AA41E8EE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1C70823-E0B7-BFF0-5231-9F51FD636F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799" y="408883"/>
            <a:ext cx="1120139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2500" dirty="0"/>
              <a:t>Learning outcome #4 – Notebook section 4. Exercises –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Part b) Creating die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54FC97F-ABA1-F741-E83D-FED9BC8D9B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D684DCDE-EC38-EBA2-9EC3-4E6178DECF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BAF6935-EB6C-A2FA-4A33-E6767DCA1FF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A59359C-82D4-5532-A66F-52BD2C86CE34}"/>
              </a:ext>
            </a:extLst>
          </p:cNvPr>
          <p:cNvSpPr txBox="1"/>
          <p:nvPr/>
        </p:nvSpPr>
        <p:spPr>
          <a:xfrm>
            <a:off x="685800" y="990285"/>
            <a:ext cx="5858436" cy="53641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 …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of this die, with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accessible to connect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39FB163-3A17-4624-5038-5B660EFA67E9}"/>
              </a:ext>
            </a:extLst>
          </p:cNvPr>
          <p:cNvSpPr/>
          <p:nvPr/>
        </p:nvSpPr>
        <p:spPr>
          <a:xfrm>
            <a:off x="6705598" y="990285"/>
            <a:ext cx="5181601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DAA3FE7-C978-FB21-AB8E-7EE8E480F3C7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err="1"/>
              <a:t>Screenshot</a:t>
            </a:r>
            <a:r>
              <a:rPr lang="es-ES"/>
              <a:t> </a:t>
            </a:r>
            <a:r>
              <a:rPr lang="es-ES" err="1"/>
              <a:t>for</a:t>
            </a:r>
            <a:r>
              <a:rPr lang="es-ES"/>
              <a:t> …</a:t>
            </a:r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0E99CA-83DB-8A36-A010-74A6995A18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05" y="1670669"/>
            <a:ext cx="5541593" cy="454296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FA3EA8D-A3DC-EB0F-F79B-87EB5D75EB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225" r="14878"/>
          <a:stretch>
            <a:fillRect/>
          </a:stretch>
        </p:blipFill>
        <p:spPr>
          <a:xfrm>
            <a:off x="7217794" y="1344869"/>
            <a:ext cx="4187692" cy="452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431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7601A-DC8F-D930-D61C-7B577320F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DD1B3F14-56C9-9E35-6F8C-1C4FFC23CD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2500" dirty="0"/>
              <a:t>Learning outcome #4 – Notebook section 4. Exercises – Part c) </a:t>
            </a:r>
            <a:r>
              <a:rPr lang="en-US" sz="2500" dirty="0" err="1"/>
              <a:t>Floorplaning</a:t>
            </a:r>
            <a:r>
              <a:rPr lang="en-US" sz="2500" dirty="0"/>
              <a:t> and die layout</a:t>
            </a:r>
            <a:br>
              <a:rPr lang="en-US" sz="2500" dirty="0"/>
            </a:b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A35138E5-8E74-622D-D25A-87EE2D5460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E182EE2B-9F37-659C-65EA-1E8FA4B053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B532FE-844A-EC00-AA13-58F55D80ECD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DA54699-90AE-0D74-7B49-D245BAB308C7}"/>
              </a:ext>
            </a:extLst>
          </p:cNvPr>
          <p:cNvSpPr txBox="1"/>
          <p:nvPr/>
        </p:nvSpPr>
        <p:spPr>
          <a:xfrm>
            <a:off x="685800" y="1271728"/>
            <a:ext cx="6409574" cy="490047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 …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Make an instance of the die as host component for your layout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Add 3 sets of 3 straight waveguides, from left to right of the die, top, middle and bottom of the die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6C286E-8F18-E4ED-AC9B-40AADDDAD962}"/>
              </a:ext>
            </a:extLst>
          </p:cNvPr>
          <p:cNvSpPr/>
          <p:nvPr/>
        </p:nvSpPr>
        <p:spPr>
          <a:xfrm>
            <a:off x="7440706" y="990285"/>
            <a:ext cx="4446493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6BAC088-912C-D005-CE86-5CCC7703D850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DF1CE3B-0209-FF81-D669-6ED24856D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38" y="2251463"/>
            <a:ext cx="6106297" cy="3429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16077F7-03A1-608E-AAD7-4507100343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087" y="1068567"/>
            <a:ext cx="2836516" cy="502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812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58289-6CE9-4689-C176-1F1D994E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DDC669E2-5ACE-DE18-06D2-1E4DE82C81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2500" dirty="0"/>
              <a:t>Learning outcome #4 – Notebook section 4. Exercises – Part c) </a:t>
            </a:r>
            <a:r>
              <a:rPr lang="en-US" sz="2500" dirty="0" err="1"/>
              <a:t>Floorplaning</a:t>
            </a:r>
            <a:r>
              <a:rPr lang="en-US" sz="2500" dirty="0"/>
              <a:t> and die</a:t>
            </a:r>
            <a:br>
              <a:rPr lang="en-US" sz="2500" dirty="0"/>
            </a:b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9EEF0F8-AFB3-BA02-EFDE-7497B4DD0B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C584AF39-6A21-A0A3-2DFA-284FF9436F9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974BDE-662C-6423-2CD2-C5F531F51DC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8127A40-A487-C1D8-93EC-826FCF683BF4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 …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Add 2 of each of the components above, with different lengths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Connect all your components to the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E4A23C6-8601-B7C9-8072-E30929909230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9D039E0-F565-5DE2-390D-4EA7256DBA5F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1B2857E-7857-A899-C600-6C229E188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18" y="1620724"/>
            <a:ext cx="4359206" cy="228514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089FD75-0A22-457C-9523-EA115FA031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18" y="4048294"/>
            <a:ext cx="4593477" cy="205181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09B242B-7960-E59C-88CA-A9C590E44F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467" y="1191148"/>
            <a:ext cx="4900114" cy="2359314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4B42D4F-A1CB-9B6C-1FB7-5D6808DBEF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467" y="3659023"/>
            <a:ext cx="4480678" cy="242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89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37EB1-7041-C6F7-03AA-E96B17061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9B59E37-FB3D-4B30-E6D5-B30E4737E5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2500" dirty="0"/>
              <a:t>Learning outcome #4 – Notebook section 4. Exercises – Part c) </a:t>
            </a:r>
            <a:r>
              <a:rPr lang="en-US" sz="2500" dirty="0" err="1"/>
              <a:t>Floorplaning</a:t>
            </a:r>
            <a:r>
              <a:rPr lang="en-US" sz="2500" dirty="0"/>
              <a:t> </a:t>
            </a:r>
            <a:r>
              <a:rPr lang="en-US" sz="2500"/>
              <a:t>and die</a:t>
            </a:r>
            <a:br>
              <a:rPr lang="en-US" sz="2500" dirty="0"/>
            </a:b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7825657-7507-1ABC-9749-EEC8B6FBB5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EF29044A-E7EF-8309-4974-131C1D9D67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C2C334-1461-A852-05D8-CF7AD7E318B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165C315-0CFE-AEA4-0C63-52EDA592270F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 …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Add 2 of each of the components above, with different lengths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Connect all your components to the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2286980-5152-0FF1-4181-D6E9FF9678A6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97F054C-A59B-AF63-374F-1DB742BB3618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9BD4D9D-4752-C425-E236-9BBFBAFA36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979" r="23078"/>
          <a:stretch>
            <a:fillRect/>
          </a:stretch>
        </p:blipFill>
        <p:spPr>
          <a:xfrm>
            <a:off x="7128857" y="1072718"/>
            <a:ext cx="3584863" cy="501673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945119E-0CC6-0406-DE32-0A29EE1FB0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59726"/>
            <a:ext cx="5043374" cy="287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34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32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</TotalTime>
  <Words>2400</Words>
  <Application>Microsoft Macintosh PowerPoint</Application>
  <PresentationFormat>Panorámica</PresentationFormat>
  <Paragraphs>239</Paragraphs>
  <Slides>32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9" baseType="lpstr">
      <vt:lpstr>Aptos</vt:lpstr>
      <vt:lpstr>Arial</vt:lpstr>
      <vt:lpstr>Calibri</vt:lpstr>
      <vt:lpstr>Consolas</vt:lpstr>
      <vt:lpstr>Lucida Sans</vt:lpstr>
      <vt:lpstr>Wingdings</vt:lpstr>
      <vt:lpstr>Office Theme</vt:lpstr>
      <vt:lpstr>Presentación de PowerPoint</vt:lpstr>
      <vt:lpstr>Instructions General</vt:lpstr>
      <vt:lpstr>Learning outcome #1a – Notebook section 1. Technology “We will work with the demo UPVfab PDK. Let's view the layer distribution of this PDK”</vt:lpstr>
      <vt:lpstr>Learning outcome #1b – Notebook section 1. Technology – DC component  “Use your design results from Lab2 and Lab3 to create layout instances of your designed components: DCs, MMIs, MZIs &amp; Ring Resonators”.  </vt:lpstr>
      <vt:lpstr>Learning outcome #1b – Notebook section 1. Technology – MMI component “Use your design results from Lab2 and Lab3 to create layout instances of your designed components: DCs, MMIs, MZIs &amp; Ring Resonators”</vt:lpstr>
      <vt:lpstr>Learning outcome #1b – Notebook section 1. Technology – MMI_bend component “Use your design results from Lab2 and Lab3 to create layout instances of your designed components: DCs, MMIs, MZIs &amp; Ring Resonators”</vt:lpstr>
      <vt:lpstr>Learning outcome #1b – Notebook section 1. Technology – Ring component “Use your design results from Lab2 and Lab3 to create layout instances of your designed components: DCs, MMIs, MZIs &amp; Ring Resonators”</vt:lpstr>
      <vt:lpstr>Learning outcome #1b – Notebook section 1. Technology – MZI component “Use your design results from Lab2 and Lab3 to create layout instances of your designed components: DCs, MMIs, MZIs &amp; Ring Resonators”</vt:lpstr>
      <vt:lpstr>Learning outcome #1b – Notebook section 1. Technology – MZI unbalanced “Use your design results from Lab2 and Lab3 to create layout instances of your designed components: DCs, MMIs, MZIs &amp; Ring Resonators”</vt:lpstr>
      <vt:lpstr>Learning outcome #2a – Notebook section 2. Layout Fundamentals “Once that we have a working 'new' component, we shall convert it into a Cell. This will allow us to have a hierarchical design”</vt:lpstr>
      <vt:lpstr>Learning outcome #2a – Notebook section 2. Layout Fundamentals – DC component cell En este bloque se definen los componentes como celdas paramétricas reutilizables mediante @gf.cell. Nos permite instanciar cada componente múltiples veces con distintos parámetros.</vt:lpstr>
      <vt:lpstr>Learning outcome #2a – Notebook section 2. Layout Fundamentals – MMI cell En este bloque se definen los componentes como celdas paramétricas reutilizables mediante @gf.cell. Nos permite instanciar cada componente múltiples veces con distintos parámetros.</vt:lpstr>
      <vt:lpstr>Learning outcome #2a – Notebook section 2. Layout Fundamentals – MMI bend cell En este bloque se definen los componentes como celdas paramétricas reutilizables mediante @gf.cell. Nos permite instanciar cada componente múltiples veces con distintos parámetros.</vt:lpstr>
      <vt:lpstr>Learning outcome #2a – Notebook section 2. Layout Fundamentals – Ring cell En este bloque se definen los componentes como celdas paramétricas reutilizables mediante @gf.cell. Nos permite instanciar cada componente múltiples veces con distintos parámetros.</vt:lpstr>
      <vt:lpstr>Learning outcome #2a – Notebook section 2. Layout Fundamentals – MZI cell En este bloque se definen los componentes como celdas paramétricas reutilizables mediante @gf.cell. Nos permite instanciar cada componente múltiples veces con distintos parámetros.</vt:lpstr>
      <vt:lpstr>Learning outcome #2a – Notebook section 2. Layout Fundamentals – MZI unbalanced cell En este bloque se definen los componentes como celdas paramétricas reutilizables mediante @gf.cell. Nos permite instanciar cada componente múltiples veces con distintos parámetros.</vt:lpstr>
      <vt:lpstr>Learning outcome #3 – Notebook section 3. Complete layout</vt:lpstr>
      <vt:lpstr>Learning outcome #3 – Notebook section 3. Complete layout</vt:lpstr>
      <vt:lpstr>Learning outcome #3 – Notebook section 3. Complete layout</vt:lpstr>
      <vt:lpstr>Learning outcome #3 – Notebook section 3. Complete layout</vt:lpstr>
      <vt:lpstr>Learning outcome #4 – Notebook section 4. Exercises – Part a) Creating components </vt:lpstr>
      <vt:lpstr>Learning outcome #4 – Notebook section 4. Exercises – Part a) Creating components </vt:lpstr>
      <vt:lpstr>Learning outcome #4 – Notebook section 4. Exercises – Part a) Creating components </vt:lpstr>
      <vt:lpstr>Learning outcome #4 – Notebook section 4. Exercises – Part a) Creating components </vt:lpstr>
      <vt:lpstr>Learning outcome #4 – Notebook section 4. Exercises – Part a) Creating components </vt:lpstr>
      <vt:lpstr>Learning outcome #4 – Notebook section 4. Exercises – Part b) Creating die</vt:lpstr>
      <vt:lpstr>Learning outcome #4 – Notebook section 4. Exercises – Part b) Creating die</vt:lpstr>
      <vt:lpstr>Learning outcome #4 – Notebook section 4. Exercises – Part b) Creating die</vt:lpstr>
      <vt:lpstr>Learning outcome #4 – Notebook section 4. Exercises – Part c) Floorplaning and die layout </vt:lpstr>
      <vt:lpstr>Learning outcome #4 – Notebook section 4. Exercises – Part c) Floorplaning and die </vt:lpstr>
      <vt:lpstr>Learning outcome #4 – Notebook section 4. Exercises – Part c) Floorplaning and die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Claudia Quiles Navarro</cp:lastModifiedBy>
  <cp:revision>2</cp:revision>
  <dcterms:created xsi:type="dcterms:W3CDTF">2025-01-27T02:46:57Z</dcterms:created>
  <dcterms:modified xsi:type="dcterms:W3CDTF">2026-06-12T07:39:54Z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